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996bff744445ae" /><Relationship Type="http://schemas.openxmlformats.org/officeDocument/2006/relationships/extended-properties" Target="/docProps/app.xml" Id="R1f72e9e87df54faf" /><Relationship Type="http://schemas.openxmlformats.org/officeDocument/2006/relationships/officeDocument" Target="/ppt/presentation.xml" Id="Rad4df6cb37a4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a5c1a35f8454b"/>
  </p:sldMasterIdLst>
  <p:notesMasterIdLst>
    <p:notesMasterId xmlns:r="http://schemas.openxmlformats.org/officeDocument/2006/relationships" r:id="R9d87e76d67be4cee"/>
  </p:notesMasterIdLst>
  <p:sldIdLst>
    <p:sldId xmlns:r="http://schemas.openxmlformats.org/officeDocument/2006/relationships" id="256" r:id="R71ef8f4588a74b61"/>
    <p:sldId xmlns:r="http://schemas.openxmlformats.org/officeDocument/2006/relationships" id="257" r:id="Rb5b72e23f9214d48"/>
    <p:sldId xmlns:r="http://schemas.openxmlformats.org/officeDocument/2006/relationships" id="258" r:id="R8633ad9af3d24771"/>
    <p:sldId xmlns:r="http://schemas.openxmlformats.org/officeDocument/2006/relationships" id="259" r:id="R35bdd40288364902"/>
    <p:sldId xmlns:r="http://schemas.openxmlformats.org/officeDocument/2006/relationships" id="260" r:id="R26c7ca832e714be2"/>
    <p:sldId xmlns:r="http://schemas.openxmlformats.org/officeDocument/2006/relationships" id="261" r:id="R63fb5861f07347f5"/>
    <p:sldId xmlns:r="http://schemas.openxmlformats.org/officeDocument/2006/relationships" id="262" r:id="Re8b0b8c0b9b143dc"/>
    <p:sldId xmlns:r="http://schemas.openxmlformats.org/officeDocument/2006/relationships" id="263" r:id="R838121a8c3eb4a21"/>
    <p:sldId xmlns:r="http://schemas.openxmlformats.org/officeDocument/2006/relationships" id="264" r:id="R8a9650ca63a9482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a5c1a35f8454b" /><Relationship Type="http://schemas.openxmlformats.org/officeDocument/2006/relationships/theme" Target="/ppt/theme/theme1.xml" Id="Re6e9ffb668504e61" /><Relationship Type="http://schemas.openxmlformats.org/officeDocument/2006/relationships/notesMaster" Target="/ppt/notesMasters/notesMaster1.xml" Id="R9d87e76d67be4cee" /><Relationship Type="http://schemas.openxmlformats.org/officeDocument/2006/relationships/presProps" Target="/ppt/presProps.xml" Id="R80442af23eeb4c21" /><Relationship Type="http://schemas.openxmlformats.org/officeDocument/2006/relationships/viewProps" Target="/ppt/viewProps.xml" Id="Re424f64f7b114d43" /><Relationship Type="http://schemas.openxmlformats.org/officeDocument/2006/relationships/tableStyles" Target="/ppt/tableStyles.xml" Id="R25cdf4fa143449b2" /><Relationship Type="http://schemas.openxmlformats.org/officeDocument/2006/relationships/slide" Target="/ppt/slides/slide1.xml" Id="R71ef8f4588a74b61" /><Relationship Type="http://schemas.openxmlformats.org/officeDocument/2006/relationships/slide" Target="/ppt/slides/slide2.xml" Id="Rb5b72e23f9214d48" /><Relationship Type="http://schemas.openxmlformats.org/officeDocument/2006/relationships/slide" Target="/ppt/slides/slide3.xml" Id="R8633ad9af3d24771" /><Relationship Type="http://schemas.openxmlformats.org/officeDocument/2006/relationships/slide" Target="/ppt/slides/slide4.xml" Id="R35bdd40288364902" /><Relationship Type="http://schemas.openxmlformats.org/officeDocument/2006/relationships/slide" Target="/ppt/slides/slide5.xml" Id="R26c7ca832e714be2" /><Relationship Type="http://schemas.openxmlformats.org/officeDocument/2006/relationships/slide" Target="/ppt/slides/slide6.xml" Id="R63fb5861f07347f5" /><Relationship Type="http://schemas.openxmlformats.org/officeDocument/2006/relationships/slide" Target="/ppt/slides/slide7.xml" Id="Re8b0b8c0b9b143dc" /><Relationship Type="http://schemas.openxmlformats.org/officeDocument/2006/relationships/slide" Target="/ppt/slides/slide8.xml" Id="R838121a8c3eb4a21" /><Relationship Type="http://schemas.openxmlformats.org/officeDocument/2006/relationships/slide" Target="/ppt/slides/slide9.xml" Id="R8a9650ca63a948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8e6057eed6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04bca1697946f8" /><Relationship Type="http://schemas.openxmlformats.org/officeDocument/2006/relationships/notesMaster" Target="/ppt/notesMasters/notesMaster1.xml" Id="R8cdeb15eac414b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7d94cab964bec" /><Relationship Type="http://schemas.openxmlformats.org/officeDocument/2006/relationships/notesMaster" Target="/ppt/notesMasters/notesMaster1.xml" Id="Rffcb10b271b444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9334b4bb78437d" /><Relationship Type="http://schemas.openxmlformats.org/officeDocument/2006/relationships/notesMaster" Target="/ppt/notesMasters/notesMaster1.xml" Id="R5afaef2b6ceb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5d33ff5d24e38" /><Relationship Type="http://schemas.openxmlformats.org/officeDocument/2006/relationships/notesMaster" Target="/ppt/notesMasters/notesMaster1.xml" Id="Rc802abe8fdaf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fe08fdf8f4bf3" /><Relationship Type="http://schemas.openxmlformats.org/officeDocument/2006/relationships/notesMaster" Target="/ppt/notesMasters/notesMaster1.xml" Id="Rfbb78d20143945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8a7368f8114fed" /><Relationship Type="http://schemas.openxmlformats.org/officeDocument/2006/relationships/notesMaster" Target="/ppt/notesMasters/notesMaster1.xml" Id="Ra98faa150cb943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0b781f536478b" /><Relationship Type="http://schemas.openxmlformats.org/officeDocument/2006/relationships/notesMaster" Target="/ppt/notesMasters/notesMaster1.xml" Id="Rb8177c2bc2be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683e594674fcf" /><Relationship Type="http://schemas.openxmlformats.org/officeDocument/2006/relationships/notesMaster" Target="/ppt/notesMasters/notesMaster1.xml" Id="R2e52047fbe594e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2c78aa6994011" /><Relationship Type="http://schemas.openxmlformats.org/officeDocument/2006/relationships/notesMaster" Target="/ppt/notesMasters/notesMaster1.xml" Id="Radbeebd44cae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fea00b3dd428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afa0f4640844d2" /><Relationship Type="http://schemas.openxmlformats.org/officeDocument/2006/relationships/slideLayout" Target="/ppt/slideLayouts/slideLayout2.xml" Id="R5ea7c93c21194f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7c93c21194f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b8e45f1394e3f" /><Relationship Type="http://schemas.openxmlformats.org/officeDocument/2006/relationships/notesSlide" Target="/ppt/notesSlides/notesSlide1.xml" Id="R9f51f8c800fc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96a35b4744a85" /><Relationship Type="http://schemas.openxmlformats.org/officeDocument/2006/relationships/notesSlide" Target="/ppt/notesSlides/notesSlide2.xml" Id="Rb6bbd3674c9d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6f1644a7d441e9" /><Relationship Type="http://schemas.openxmlformats.org/officeDocument/2006/relationships/notesSlide" Target="/ppt/notesSlides/notesSlide3.xml" Id="R6fbb8103656f4c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fbac231f44ab4" /><Relationship Type="http://schemas.openxmlformats.org/officeDocument/2006/relationships/notesSlide" Target="/ppt/notesSlides/notesSlide4.xml" Id="R233b6d1b6169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1405a0d104008" /><Relationship Type="http://schemas.openxmlformats.org/officeDocument/2006/relationships/notesSlide" Target="/ppt/notesSlides/notesSlide5.xml" Id="R4433a2e8bfd244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3ceb6ece44c96" /><Relationship Type="http://schemas.openxmlformats.org/officeDocument/2006/relationships/notesSlide" Target="/ppt/notesSlides/notesSlide6.xml" Id="R13853212d45d44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d4c30630c341a9" /><Relationship Type="http://schemas.openxmlformats.org/officeDocument/2006/relationships/notesSlide" Target="/ppt/notesSlides/notesSlide7.xml" Id="Rde6f5b39704646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82226c5f44642" /><Relationship Type="http://schemas.openxmlformats.org/officeDocument/2006/relationships/notesSlide" Target="/ppt/notesSlides/notesSlide8.xml" Id="R98d513302c5247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0f291c876a4725" /><Relationship Type="http://schemas.openxmlformats.org/officeDocument/2006/relationships/notesSlide" Target="/ppt/notesSlides/notesSlide9.xml" Id="R279fcc21094345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4D776-BE35-4975-903B-55B2BBA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FBF6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6D61E-E393-4305-8E9D-04705A4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420"/>
          </a:solidFill>
          <a:ln xmlns:a="http://schemas.openxmlformats.org/drawingml/2006/main" w="0">
            <a:solidFill>
              <a:srgbClr val="2224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2CA4E-3EFF-4101-89B0-D0B743D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467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BETTING ODDS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B7030-7B14-4117-846D-E35EE5D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60769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F1A17"/>
                </a:solidFill>
              </a:defRPr>
            </a:pPr>
            <a:r>
              <a:rPr sz="6150" b="1">
                <a:solidFill>
                  <a:srgbClr val="1F1A17"/>
                </a:solidFill>
              </a:rPr>
              <a:t>Bakery-Audit Odds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B0D89-BDD5-42BB-B520-F7DD77B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725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D655D"/>
                </a:solidFill>
              </a:defRPr>
            </a:pPr>
            <a:r>
              <a:rPr sz="2175">
                <a:solidFill>
                  <a:srgbClr val="6D655D"/>
                </a:solidFill>
              </a:rPr>
              <a:t>A focused walkthrough of the newer moneyline, over/under, and spread analysis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F1F01-258D-450D-8288-58E6F59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D"/>
          </a:solidFill>
          <a:ln xmlns:a="http://schemas.openxmlformats.org/drawingml/2006/main" w="0">
            <a:solidFill>
              <a:srgbClr val="C85C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67C62-BAD8-46C2-9F2B-E4EE7A7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38900"/>
            <a:ext cx="695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D655D"/>
                </a:solidFill>
              </a:defRPr>
            </a:pPr>
            <a:r>
              <a:rPr sz="1650">
                <a:solidFill>
                  <a:srgbClr val="6D655D"/>
                </a:solidFill>
              </a:rPr>
              <a:t>Built from the repository’s odds parsing, pairing, ranking, and Discord review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F27F4-9594-471B-B89E-4DDBF79B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409" y="7105650"/>
            <a:ext cx="6576441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302A24"/>
          </a:solidFill>
          <a:ln xmlns:a="http://schemas.openxmlformats.org/drawingml/2006/main" w="9525">
            <a:solidFill>
              <a:srgbClr val="5E5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444DD-65BD-460F-A188-B6F3903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315200"/>
            <a:ext cx="6115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0F6CC-F855-448E-B27E-114D8056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543800"/>
            <a:ext cx="6115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Only the newer odds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4947A-1FAC-459D-81E3-8293CDA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409" y="8172450"/>
            <a:ext cx="6576441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02A24"/>
          </a:solidFill>
          <a:ln xmlns:a="http://schemas.openxmlformats.org/drawingml/2006/main" w="9525">
            <a:solidFill>
              <a:srgbClr val="5E5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E822E-95A4-45D8-9042-B93BB42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382000"/>
            <a:ext cx="611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Moneyline pairing +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B8700-E4B4-4E6F-861C-F798681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648700"/>
            <a:ext cx="611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O/U scenario-window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B0F63-8117-4E28-9EB6-592A592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915400"/>
            <a:ext cx="611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Spread margin-window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F0E1E-02D2-4D1B-948E-2D7A60F2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9182100"/>
            <a:ext cx="611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Updated market-first Discord output</a:t>
            </a:r>
          </a:p>
        </p:txBody>
      </p:sp>
    </p:spTree>
    <p:extLst>
      <p:ext uri="{BB962C8B-B14F-4D97-AF65-F5344CB8AC3E}">
        <p14:creationId xmlns:p14="http://schemas.microsoft.com/office/powerpoint/2010/main" val="18027948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D78CF0-DBB0-49BB-8A6E-D9683C22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solidFill>
              <a:srgbClr val="FFFD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EF98D-57D2-48E8-A3D5-E9EF0BD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WHY THE ODDS FLOW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77755-CB8B-4479-A2C8-D9882A5F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0553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The newer work moves Bakery-Audit from logging bets to comparing odds opportunities.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1531E-373B-417F-B524-C1855C58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8219313" cy="6724650"/>
          </a:xfrm>
          <a:prstGeom xmlns:a="http://schemas.openxmlformats.org/drawingml/2006/main" prst="roundRect">
            <a:avLst>
              <a:gd name="adj" fmla="val 1133"/>
            </a:avLst>
          </a:prstGeom>
          <a:solidFill xmlns:a="http://schemas.openxmlformats.org/drawingml/2006/main">
            <a:srgbClr val="F6E0D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D4363-AC38-4F37-8153-A0911A21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5C3D"/>
                </a:solidFill>
              </a:defRPr>
            </a:pPr>
            <a:r>
              <a:rPr sz="2550" b="1">
                <a:solidFill>
                  <a:srgbClr val="C85C3D"/>
                </a:solidFill>
              </a:rPr>
              <a:t>Before the newer odds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8E208-BFBE-46F2-876A-847F309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775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Primary flow was screenshot extraction plus confirmation logging.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48ECB-238D-4285-A618-F794D37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775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Great for record-keeping, but not built for comparing sportsbooks.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8503A-7B87-4422-8B01-2637DA33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775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No dedicated totals or spread recommendation logic.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0B6D2-0D15-4BDA-8BBD-20524D52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863" y="2895600"/>
            <a:ext cx="7896987" cy="6724650"/>
          </a:xfrm>
          <a:prstGeom xmlns:a="http://schemas.openxmlformats.org/drawingml/2006/main" prst="roundRect">
            <a:avLst>
              <a:gd name="adj" fmla="val 1133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23804-0C97-4E0C-ACDC-3EB144BA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744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7B6E"/>
                </a:solidFill>
              </a:defRPr>
            </a:pPr>
            <a:r>
              <a:rPr sz="2550" b="1">
                <a:solidFill>
                  <a:srgbClr val="1D7B6E"/>
                </a:solidFill>
              </a:rPr>
              <a:t>After the newer odds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627D2-F275-4C15-AFDF-BB83CFC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`@bot odds [real|bonus|both]` triggers a dedicated automation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F25DF-F4FD-43D8-B4F0-D36F635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2905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The bot extracts market-specific odds candidates from screenshots.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C7E8B-4C4C-4D14-BCC0-AED5075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33850"/>
            <a:ext cx="7448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It pairs opposite sides across sites, scores them, ranks them, and writes three sheet stages.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ABBCD-BEF3-4CC8-8A50-EFF20583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4820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Final Discord output now shows one best pick each for moneyline, O/U, and spread.</a:t>
            </a:r>
          </a:p>
        </p:txBody>
      </p:sp>
    </p:spTree>
    <p:extLst>
      <p:ext uri="{BB962C8B-B14F-4D97-AF65-F5344CB8AC3E}">
        <p14:creationId xmlns:p14="http://schemas.microsoft.com/office/powerpoint/2010/main" val="18148914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65C7D-A866-42CD-AD68-B6E7526E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FBF6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7A871-DA0C-43FE-B66D-E18122B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ODDS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41CE-423B-4C85-B033-1ED80832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087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The new odds flow has a clear input -&gt; pairing -&gt; ranking -&gt; output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9F38B-EA5C-491A-84C9-69C0879B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3192780" cy="6038850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6E0D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13D19-EEC0-4B56-B015-D2B4F0D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85C3D"/>
                </a:solidFill>
              </a:defRPr>
            </a:pPr>
            <a:r>
              <a:rPr sz="3300" b="1">
                <a:solidFill>
                  <a:srgbClr val="C85C3D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DDB38-3084-4942-9BF5-ABB9D6B5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74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User sends `@bot odds real|bonus|both` with screenshots.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8F2BD-65A5-4724-B609-B85123C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2305050"/>
            <a:ext cx="3192780" cy="6038850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5E9D3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B728D-B09F-4EDD-AEFA-39592D8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18428"/>
                </a:solidFill>
              </a:defRPr>
            </a:pPr>
            <a:r>
              <a:rPr sz="3300" b="1">
                <a:solidFill>
                  <a:srgbClr val="B1842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FBC9E-76AD-4875-9175-7774726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74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Gemini extracts `OddsCandidate` rows with market, site, odds, and line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363B1-AA57-4343-B072-9E37B47B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305050"/>
            <a:ext cx="3192780" cy="6038850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FCF68-4263-48EA-90A1-5E26F49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D7B6E"/>
                </a:solidFill>
              </a:defRPr>
            </a:pPr>
            <a:r>
              <a:rPr sz="3300" b="1">
                <a:solidFill>
                  <a:srgbClr val="1D7B6E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11E60-280D-42B3-A894-BACFA698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2743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Models normalize dates, team codes, sites, totals, and spreads.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B4934-5091-4A04-893A-ADF9B3C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2305050"/>
            <a:ext cx="3192780" cy="6038850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EDF1F6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9A6B3-F041-4A3A-94BE-CAB068B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1460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8739A"/>
                </a:solidFill>
              </a:defRPr>
            </a:pPr>
            <a:r>
              <a:rPr sz="3300" b="1">
                <a:solidFill>
                  <a:srgbClr val="58739A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0E9F3-EE0E-4B15-8942-DC7A127A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0"/>
            <a:ext cx="274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Discord shows an invoker-only review embed before confirmation.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CFB96-92B4-4D41-916F-013F507C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070" y="2305050"/>
            <a:ext cx="3192780" cy="6038850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3E7DD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1608C-93DA-4995-9A45-627A9D1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251460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85C3D"/>
                </a:solidFill>
              </a:defRPr>
            </a:pPr>
            <a:r>
              <a:rPr sz="3300" b="1">
                <a:solidFill>
                  <a:srgbClr val="C85C3D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BB98F-67CC-43BD-B6A1-68B85F86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048000"/>
            <a:ext cx="274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Confirm writes raw, clean, and ranked sheets, then returns best market picks.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4849D-0A46-439F-A81B-F3F1685B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91550"/>
            <a:ext cx="1664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C50DA-6ECE-4436-8B41-4F9EF3DF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801100"/>
            <a:ext cx="521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85C3D"/>
                </a:solidFill>
              </a:defRPr>
            </a:pPr>
            <a:r>
              <a:rPr sz="3150" b="1">
                <a:solidFill>
                  <a:srgbClr val="C85C3D"/>
                </a:solidFill>
              </a:rPr>
              <a:t>odds_raw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DC759-91F5-4D6A-8016-66454182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277350"/>
            <a:ext cx="5219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STAGE 1 EXTRACTED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EBDD2-1884-479B-A9DD-42D53960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801100"/>
            <a:ext cx="521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7B6E"/>
                </a:solidFill>
              </a:defRPr>
            </a:pPr>
            <a:r>
              <a:rPr sz="3150" b="1">
                <a:solidFill>
                  <a:srgbClr val="1D7B6E"/>
                </a:solidFill>
              </a:rPr>
              <a:t>odds_clean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F9445-9B94-485E-823F-9B2013F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9277350"/>
            <a:ext cx="5219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STAGE 2 PAIRED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062FE-8817-4067-9D1E-4F7DB34F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8801100"/>
            <a:ext cx="521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18428"/>
                </a:solidFill>
              </a:defRPr>
            </a:pPr>
            <a:r>
              <a:rPr sz="3150" b="1">
                <a:solidFill>
                  <a:srgbClr val="B18428"/>
                </a:solidFill>
              </a:rPr>
              <a:t>odds_ranked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614E8-20DC-49FB-A5F3-48A444ED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9277350"/>
            <a:ext cx="5219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STAGE 3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706810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5DA11-FEA2-4E4D-9909-9CB8920B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solidFill>
              <a:srgbClr val="FFFD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0FACA-2E3D-4242-B81C-E5A944A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FEATURE: MONEYLINE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6628A-891F-4256-AD1D-7EA4B98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5059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Moneyline now has dedicated pairing, workbook-style calculations, and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4EC0A-4DF0-4699-9B22-8C3C3F3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096250" cy="73152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F6E0D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B452-2E20-4B28-8994-8D8DE3F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extracts rows as `market="moneyline"`.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61479-06DA-4203-BFAB-0E6B5F99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`build_clean_rows(...)` groups opposite sides of the same matchup on the same 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3CAD1-0013-46CF-AE23-49C53CC6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`_pick_best_site_pair(...)` rejects same-site pairs and chooses the best cross-site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BC5DA-B239-4A4B-AED6-950DB94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Moneyline uses workbook-style formulas for hedge, profit, ROI, and rake.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55A1E-0AFA-4041-95A1-F29491C9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Bonus mode now blocks Cloudbet as the bonus side.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9D93-7D44-4C9C-AB7B-96B2F9B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8096250" cy="73152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E8ACF-DB8D-4EC5-BEEB-79588E8A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7639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CODE-BACKED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1FA96-4C48-4DE0-9FFA-0E1B4DB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7639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1A17"/>
                </a:solidFill>
              </a:defRPr>
            </a:pPr>
            <a:r>
              <a:rPr sz="2850" b="1">
                <a:solidFill>
                  <a:srgbClr val="1F1A17"/>
                </a:solidFill>
              </a:rPr>
              <a:t>TOR @ 3.81 vs CLE @ 1.28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D903D-61D8-4EB1-8B2D-59E59F82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Bet side: TOR on xbet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5B0E2-80C3-440C-9586-4DE9C901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Hedge side: CLE on cloudbet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E8B6D-6E88-4774-808B-43F34A4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Base stake: 100.00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90375-CA9D-49A1-94FE-C0D23B7C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Real hedge: 297.66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B7EA2-00C8-4838-8F11-F296CBF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Bonus profit: 61.47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AAA17-230F-4053-B4E3-8755DF9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339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Bonus ROI: 28.0%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1A52E-6814-4F50-A872-A571D308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006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Recommendation: BET</a:t>
            </a:r>
          </a:p>
        </p:txBody>
      </p:sp>
    </p:spTree>
    <p:extLst>
      <p:ext uri="{BB962C8B-B14F-4D97-AF65-F5344CB8AC3E}">
        <p14:creationId xmlns:p14="http://schemas.microsoft.com/office/powerpoint/2010/main" val="9425652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DBE76-0D75-445B-8476-4F5F9D05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FBF6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7EE07-6C6E-438C-9F61-91CD7063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FEATURE: OVER / UNDER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E5F0D-BA79-4A23-9579-198246AA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8488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Totals bets are evaluated as score windows instead of a simple win/lose pair.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B5798-F8FC-442E-B178-BCB50BB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096250" cy="73152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BD7F1-1E6A-4757-893E-5E8E1ED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extracts totals as `total_over` / `total_under` with `total_line`.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2D3E3-8BC1-49EE-BEF4-E789FEB0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The bot pairs Over and Under across different sites for the same game.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FB67D-DD48-4978-9573-1F8C825C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`_optimize_ou_hedge_stake(...)` maximizes the worst-case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2DEAC-D588-4243-8F94-F9489B72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`_ou_profit_outcomes(...)` evaluates buckets below, at, between, and above the 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7F7B4-9FB6-43A8-A572-919E29DF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If only same-site pairs exist, the review embed explains why there is no pick.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19BAA-8D57-4667-9509-BFB4A892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8096250" cy="73152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F7FCFA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68E63-B4C3-4002-8E8D-4C7B5FC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7639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CODE-BACKED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8C366-133B-4300-B44A-661E1C70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7639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1A17"/>
                </a:solidFill>
              </a:defRPr>
            </a:pPr>
            <a:r>
              <a:rPr sz="2850" b="1">
                <a:solidFill>
                  <a:srgbClr val="1F1A17"/>
                </a:solidFill>
              </a:rPr>
              <a:t>OVER 222.5 vs UNDER 223.5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59D03-2817-4B2E-92B5-1386C414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Chosen bet side: OVER 222.5 @ 1.93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1C9F8-AB9F-4422-BEAF-FE91F53A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Hedge side: UNDER 223.5 @ 1.90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74A12-9A60-4FBB-B612-9F83D84E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Optimized hedge: 101.58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FE3FA-B7F8-497F-B0A0-7AC4F60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Worst case: -8.58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BFF7F-2B0B-4A01-8DB1-0D40935C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Middle window (222.5, 223.5): 184.42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66F9F-89A3-4D11-B5C0-808633E7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339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The feature’s value is the protected middle-score window.</a:t>
            </a:r>
          </a:p>
        </p:txBody>
      </p:sp>
    </p:spTree>
    <p:extLst>
      <p:ext uri="{BB962C8B-B14F-4D97-AF65-F5344CB8AC3E}">
        <p14:creationId xmlns:p14="http://schemas.microsoft.com/office/powerpoint/2010/main" val="3004758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978C0-17BF-4EB8-8750-7BAF7B3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solidFill>
              <a:srgbClr val="FFFD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8D4B6-FC11-4111-B6E3-BE6F27C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FEATURE: SPREAD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F39AE-FC8A-4924-A702-B5439C8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6583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Spread bets add margin-based pairing and line-window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A5B5E-1E6D-409C-BA7E-F390749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096250" cy="73152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F5E9D3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1BD14-B050-42C0-87B5-15DF129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extracts `market="spread"` plus signed `spread_line`.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9F91B-B778-4F0B-869D-4A5CEE2E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The bot pairs opposite spread sides across sites for the same matchup.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A3AE9-E4F7-40FE-A503-6047975D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`_optimize_spread_hedge_stake(...)` solves for the strongest downside protection.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526D7-B636-4AA5-95F9-66F1BF84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`_spread_profit_outcomes(...)` checks outcomes around the spread thresholds.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49B23-8461-4EAD-B1B6-E756E41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Spread results can expose middle-margin windows when two lines leave room in between.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67FF7-B30E-4A4E-ABD9-665762E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8096250" cy="73152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F36D1-5B81-4CAD-B7C5-747CC9D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7639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CODE-BACKED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DC69B-26DE-44D5-B386-A128B33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7639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1A17"/>
                </a:solidFill>
              </a:defRPr>
            </a:pPr>
            <a:r>
              <a:rPr sz="2850" b="1">
                <a:solidFill>
                  <a:srgbClr val="1F1A17"/>
                </a:solidFill>
              </a:rPr>
              <a:t>MIN -1.5 vs DAL +2.5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54FBE-0EAE-4ABC-8BF8-2810DD55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The helper evaluates margin outcomes around 1.5 and 2.5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27CB6-6634-4970-822E-B6181A63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Optimized hedge from the spread helper: 143.66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FB2CF-143B-4A34-942C-8D35512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Worst case: -39.66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565FB-A924-49D2-8F03-537579E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At lower line 1.5: 60.34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273F9-CB4E-447C-9184-4DA3CDDA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Middle window (1.5, 2.5): 164.34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CC474-A36C-4CAB-BC44-4DB213C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3390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This is the line-sensitive behavior spread logic adds.</a:t>
            </a:r>
          </a:p>
        </p:txBody>
      </p:sp>
    </p:spTree>
    <p:extLst>
      <p:ext uri="{BB962C8B-B14F-4D97-AF65-F5344CB8AC3E}">
        <p14:creationId xmlns:p14="http://schemas.microsoft.com/office/powerpoint/2010/main" val="16273268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D0132-720F-4F69-B7E2-96E6D90A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FBF6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BF9A5-0E1A-44F8-A394-3BCD60A0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RANKING + OUTPUT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DAC54-7189-44E6-A64B-7788C50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1633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The recent work also improved recommendation quality and the final Discord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9ACB1-212E-4787-94A2-1745F522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8471059" cy="7296150"/>
          </a:xfrm>
          <a:prstGeom xmlns:a="http://schemas.openxmlformats.org/drawingml/2006/main" prst="roundRect">
            <a:avLst>
              <a:gd name="adj" fmla="val 1044"/>
            </a:avLst>
          </a:prstGeom>
          <a:solidFill xmlns:a="http://schemas.openxmlformats.org/drawingml/2006/main">
            <a:srgbClr val="EDF1F6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067FD-C037-4CB6-B5F0-3A08349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`select_top_recommendations(...)` now skips games already used by earlier metric buckets.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885A5-EADB-4F04-B1C6-BBD4D447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802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Site attribution is preserved more aggressively per screenshot and can backfill from image names.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7EB71-462C-4767-9058-80C496C2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Rake / edge sign was aligned to the workbook display: `1 - implied probability sum`.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BD0FA-7DD2-46E4-A66D-B8E22900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Moneyline bonus instructions are suppressed when the bet site is Cloudbet.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335F8-DE10-4DDE-B564-8D4CE845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559" y="2324100"/>
            <a:ext cx="7664291" cy="7296150"/>
          </a:xfrm>
          <a:prstGeom xmlns:a="http://schemas.openxmlformats.org/drawingml/2006/main" prst="roundRect">
            <a:avLst>
              <a:gd name="adj" fmla="val 1044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C003A-B5A8-4B7E-8B79-5611A63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720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D7B6E"/>
                </a:solidFill>
              </a:defRPr>
            </a:pPr>
            <a:r>
              <a:rPr sz="2700" b="1">
                <a:solidFill>
                  <a:srgbClr val="1D7B6E"/>
                </a:solidFill>
              </a:rPr>
              <a:t>Visible product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97B96-9B1E-45D5-A955-2455F256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7180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Old: multi-page odds result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D69C3-44EF-42D2-9D7F-6377823F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New: one market-first recommendations embed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99667-E70F-4BBF-8857-D588170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Output fields: Best Moneyline, Best O/U, Best Spread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11089-8183-4CC5-8D63-8732848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Result: faster scanning for non-technical reviewers and operators</a:t>
            </a:r>
          </a:p>
        </p:txBody>
      </p:sp>
    </p:spTree>
    <p:extLst>
      <p:ext uri="{BB962C8B-B14F-4D97-AF65-F5344CB8AC3E}">
        <p14:creationId xmlns:p14="http://schemas.microsoft.com/office/powerpoint/2010/main" val="8926140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2F3E0-9475-4161-B079-BD18791F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solidFill>
              <a:srgbClr val="FFFDF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0F3FC-FEA1-400B-884A-B1A91297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EXAMPLE END-TO-END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E1E50-58D3-43BD-8801-83C6D5BE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6393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One odds request can produce reviewable outputs for all three new markets.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0FBFA-A6A8-4EF6-A27F-96075917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5204732" cy="7296150"/>
          </a:xfrm>
          <a:prstGeom xmlns:a="http://schemas.openxmlformats.org/drawingml/2006/main" prst="roundRect">
            <a:avLst>
              <a:gd name="adj" fmla="val 1464"/>
            </a:avLst>
          </a:prstGeom>
          <a:solidFill xmlns:a="http://schemas.openxmlformats.org/drawingml/2006/main">
            <a:srgbClr val="F6E0D8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901A8-3A40-4F99-9801-EF7E208F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4743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B5E75-2A41-43B0-BC23-C18CE39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4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Screenshot A: TOR/CLE moneyline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2D7E0-4A98-4977-BBAE-3AB26554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474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Screenshot B: TOR/CLE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74649-0006-4AD3-9EA6-3289850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474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Screenshot C: MIN/DAL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D1511-2C95-4677-B607-048EB7A6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74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User sends `@bot odds both`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45606-F194-460B-A567-A340323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482" y="2324100"/>
            <a:ext cx="5783036" cy="7296150"/>
          </a:xfrm>
          <a:prstGeom xmlns:a="http://schemas.openxmlformats.org/drawingml/2006/main" prst="roundRect">
            <a:avLst>
              <a:gd name="adj" fmla="val 1318"/>
            </a:avLst>
          </a:prstGeom>
          <a:solidFill xmlns:a="http://schemas.openxmlformats.org/drawingml/2006/main">
            <a:srgbClr val="F5E9D3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8080B-CC7E-4689-8A63-31F31D34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5334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E14F8-E966-4745-966C-3A55D8A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returns `OddsCandidate`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2EE7C-D2CA-4A64-9B4F-9A804DD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533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Dates, teams, sites, odds, totals, and spread lines are normalized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16A82-D27E-4B94-8974-A8943CA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Cross-site opposite sides are paired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BC216-B7CC-424B-BECB-10E9279D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Moneyline, O/U, and spread are ranked separately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DE3F5-CAEA-41D4-A294-04026FC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18" y="2324100"/>
            <a:ext cx="5204732" cy="7296150"/>
          </a:xfrm>
          <a:prstGeom xmlns:a="http://schemas.openxmlformats.org/drawingml/2006/main" prst="roundRect">
            <a:avLst>
              <a:gd name="adj" fmla="val 1464"/>
            </a:avLst>
          </a:prstGeom>
          <a:solidFill xmlns:a="http://schemas.openxmlformats.org/drawingml/2006/main">
            <a:srgbClr val="E7F3EE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D2CA9-2705-40DC-AF92-74D2E423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33650"/>
            <a:ext cx="47434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15E1B-EF39-4EB7-8AB7-9B4CCE4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762250"/>
            <a:ext cx="474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Discord review embed before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AA560-2D4C-4D54-A325-68C8F22E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067050"/>
            <a:ext cx="4743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Best Moneyline / Best O/U / Best Spread after confirmation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A7AFD-987E-456A-B312-AE4A83C7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581400"/>
            <a:ext cx="4743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Sheet writes to `odds_raw`, `odds_clean`, `odds_ranked`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2ABAE-0F37-4C9E-8839-584F7A1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095750"/>
            <a:ext cx="4743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Counts of raw, clean, and ranked rows returned to the user</a:t>
            </a:r>
          </a:p>
        </p:txBody>
      </p:sp>
    </p:spTree>
    <p:extLst>
      <p:ext uri="{BB962C8B-B14F-4D97-AF65-F5344CB8AC3E}">
        <p14:creationId xmlns:p14="http://schemas.microsoft.com/office/powerpoint/2010/main" val="20694841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38D9E-1AAA-4B7F-BB17-4F950356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420"/>
          </a:solidFill>
          <a:ln xmlns:a="http://schemas.openxmlformats.org/drawingml/2006/main" w="0">
            <a:solidFill>
              <a:srgbClr val="2224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FC852-CD41-41A0-A0B8-6050AC96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664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AB982"/>
                </a:solidFill>
              </a:defRPr>
            </a:pPr>
            <a:r>
              <a:rPr sz="1200" b="1">
                <a:solidFill>
                  <a:srgbClr val="DAB982"/>
                </a:solidFill>
              </a:rPr>
              <a:t>TECHNICAL HIGHLIGHTS /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5F4D5-C1BF-4AD1-B080-81DA2D00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16014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newer odds features are the strongest product step-change in the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B4A7E-DEA2-4D4A-9998-8E56216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Strict JSON odds prompt keeps extraction structured.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71A57-2738-49A0-B26D-CF793676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`OddsCandidate` makes market, site, total, and spread fields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424FD-7329-460C-9D76-C3687DE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Cross-site pairing prevents weak same-site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504B3-A59D-4D09-B6BA-888F1E16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Per-market optimization gives each bet type its own logic instead of one generic ranking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7E6B9-8B6A-4BD5-816F-89BD4305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The new Discord summary makes the results presentation-ready.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72A28-BC2C-41DE-8BCB-4B32DF5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2200"/>
            <a:ext cx="3790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02A24"/>
          </a:solidFill>
          <a:ln xmlns:a="http://schemas.openxmlformats.org/drawingml/2006/main" w="9525">
            <a:solidFill>
              <a:srgbClr val="5E5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6B8E8-16B7-42A2-9C32-AF6E4C31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9A38B"/>
                </a:solidFill>
              </a:defRPr>
            </a:pPr>
            <a:r>
              <a:rPr sz="3150" b="1">
                <a:solidFill>
                  <a:srgbClr val="E9A38B"/>
                </a:solidFill>
              </a:rPr>
              <a:t>3 markets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3F20-F950-457A-93BF-C3B24FC1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3333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MONEYLINE, O/U, 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8EC6E-7ABC-4D40-B8DD-52375452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362200"/>
            <a:ext cx="3790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02A24"/>
          </a:solidFill>
          <a:ln xmlns:a="http://schemas.openxmlformats.org/drawingml/2006/main" w="9525">
            <a:solidFill>
              <a:srgbClr val="5E54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0766D-8620-4369-B037-0FAFC2EA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5717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CCFC1"/>
                </a:solidFill>
              </a:defRPr>
            </a:pPr>
            <a:r>
              <a:rPr sz="3150" b="1">
                <a:solidFill>
                  <a:srgbClr val="7CCFC1"/>
                </a:solidFill>
              </a:rPr>
              <a:t>1 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19FBC-6522-4407-924F-F374DEC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048000"/>
            <a:ext cx="3333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BEST PICK PER 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8C6FF-E155-4956-933B-5596BD7F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05750"/>
            <a:ext cx="77724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302A24"/>
          </a:solidFill>
          <a:ln xmlns:a="http://schemas.openxmlformats.org/drawingml/2006/main" w="9525">
            <a:solidFill>
              <a:srgbClr val="5E54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E593A-E0AF-4998-933B-1B5F70A1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134350"/>
            <a:ext cx="7277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BE95"/>
                </a:solidFill>
              </a:defRPr>
            </a:pPr>
            <a:r>
              <a:rPr sz="1200" b="1">
                <a:solidFill>
                  <a:srgbClr val="D8BE95"/>
                </a:solidFill>
              </a:rPr>
              <a:t>Bottom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98DAC-60FE-4215-B837-51B97DA1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382000"/>
            <a:ext cx="716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Bakery-Audit now does more than read betting slips. It compares odds, finds structured opportunities, and explains the best pick by market.</a:t>
            </a:r>
          </a:p>
        </p:txBody>
      </p:sp>
    </p:spTree>
    <p:extLst>
      <p:ext uri="{BB962C8B-B14F-4D97-AF65-F5344CB8AC3E}">
        <p14:creationId xmlns:p14="http://schemas.microsoft.com/office/powerpoint/2010/main" val="2116812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2026-04-25T04:36:07.2990000Z</dcterms:created>
  <dcterms:modified xsi:type="dcterms:W3CDTF">2026-04-25T04:36:07.2990000Z</dcterms:modified>
</coreProperties>
</file>