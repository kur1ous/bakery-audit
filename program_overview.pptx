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56" d="100"/>
          <a:sy n="56" d="100"/>
        </p:scale>
        <p:origin x="6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04D776-BE35-4975-903B-55B2BBA0A4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E"/>
          </a:solidFill>
          <a:ln w="0">
            <a:solidFill>
              <a:srgbClr val="FBF6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76D61E-E393-4305-8E9D-04705A4DEF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524500" cy="10287000"/>
          </a:xfrm>
          <a:prstGeom prst="rect">
            <a:avLst/>
          </a:prstGeom>
          <a:solidFill>
            <a:srgbClr val="222420"/>
          </a:solidFill>
          <a:ln w="0">
            <a:solidFill>
              <a:srgbClr val="2224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A2CA4E-3EFF-4101-89B0-D0B743D913AA}"/>
              </a:ext>
            </a:extLst>
          </p:cNvPr>
          <p:cNvSpPr>
            <a:spLocks noGrp="1"/>
          </p:cNvSpPr>
          <p:nvPr/>
        </p:nvSpPr>
        <p:spPr>
          <a:xfrm>
            <a:off x="819150" y="3429000"/>
            <a:ext cx="94678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NEW BETTING ODDS FEATURES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7B7030-7B14-4117-846D-E35EE5D967E6}"/>
              </a:ext>
            </a:extLst>
          </p:cNvPr>
          <p:cNvSpPr>
            <a:spLocks noGrp="1"/>
          </p:cNvSpPr>
          <p:nvPr/>
        </p:nvSpPr>
        <p:spPr>
          <a:xfrm>
            <a:off x="819150" y="3752850"/>
            <a:ext cx="6076950" cy="1562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150" b="1">
                <a:solidFill>
                  <a:srgbClr val="1F1A17"/>
                </a:solidFill>
              </a:defRPr>
            </a:pPr>
            <a:r>
              <a:rPr sz="6150" b="1" dirty="0">
                <a:solidFill>
                  <a:srgbClr val="1F1A17"/>
                </a:solidFill>
              </a:rPr>
              <a:t>Bakery-Audit Odds Automation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0B0D89-BDD5-42BB-B520-F7DD77B5413A}"/>
              </a:ext>
            </a:extLst>
          </p:cNvPr>
          <p:cNvSpPr>
            <a:spLocks noGrp="1"/>
          </p:cNvSpPr>
          <p:nvPr/>
        </p:nvSpPr>
        <p:spPr>
          <a:xfrm>
            <a:off x="819150" y="5486400"/>
            <a:ext cx="72580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>
                <a:solidFill>
                  <a:srgbClr val="6D655D"/>
                </a:solidFill>
              </a:defRPr>
            </a:pPr>
            <a:r>
              <a:rPr sz="2175">
                <a:solidFill>
                  <a:srgbClr val="6D655D"/>
                </a:solidFill>
              </a:rPr>
              <a:t>A focused walkthrough of the newer moneyline, over/under, and spread analysis features.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7F1F01-258D-450D-8288-58E6F592B035}"/>
              </a:ext>
            </a:extLst>
          </p:cNvPr>
          <p:cNvSpPr>
            <a:spLocks noGrp="1"/>
          </p:cNvSpPr>
          <p:nvPr/>
        </p:nvSpPr>
        <p:spPr>
          <a:xfrm>
            <a:off x="819150" y="6210300"/>
            <a:ext cx="2095500" cy="47625"/>
          </a:xfrm>
          <a:prstGeom prst="rect">
            <a:avLst/>
          </a:prstGeom>
          <a:solidFill>
            <a:srgbClr val="C85C3D"/>
          </a:solidFill>
          <a:ln w="0">
            <a:solidFill>
              <a:srgbClr val="C85C3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F67C62-BAD8-46C2-9F2B-E4EE7A772756}"/>
              </a:ext>
            </a:extLst>
          </p:cNvPr>
          <p:cNvSpPr>
            <a:spLocks noGrp="1"/>
          </p:cNvSpPr>
          <p:nvPr/>
        </p:nvSpPr>
        <p:spPr>
          <a:xfrm>
            <a:off x="819150" y="6438900"/>
            <a:ext cx="6953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D655D"/>
                </a:solidFill>
              </a:defRPr>
            </a:pPr>
            <a:r>
              <a:rPr sz="1650">
                <a:solidFill>
                  <a:srgbClr val="6D655D"/>
                </a:solidFill>
              </a:rPr>
              <a:t>Built from the repository’s odds parsing, pairing, ranking, and Discord review flow.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AF27F4-9594-471B-B89E-4DDBF79B1091}"/>
              </a:ext>
            </a:extLst>
          </p:cNvPr>
          <p:cNvSpPr>
            <a:spLocks noGrp="1"/>
          </p:cNvSpPr>
          <p:nvPr/>
        </p:nvSpPr>
        <p:spPr>
          <a:xfrm>
            <a:off x="10892409" y="7105650"/>
            <a:ext cx="6576441" cy="895350"/>
          </a:xfrm>
          <a:prstGeom prst="roundRect">
            <a:avLst>
              <a:gd name="adj" fmla="val 8511"/>
            </a:avLst>
          </a:prstGeom>
          <a:solidFill>
            <a:srgbClr val="302A24"/>
          </a:solidFill>
          <a:ln w="9525">
            <a:solidFill>
              <a:srgbClr val="5E544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0444DD-65BD-460F-A188-B6F3903A4047}"/>
              </a:ext>
            </a:extLst>
          </p:cNvPr>
          <p:cNvSpPr>
            <a:spLocks noGrp="1"/>
          </p:cNvSpPr>
          <p:nvPr/>
        </p:nvSpPr>
        <p:spPr>
          <a:xfrm>
            <a:off x="11125200" y="7315200"/>
            <a:ext cx="61150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FOCUS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00F6CC-F855-448E-B27E-114D805626E0}"/>
              </a:ext>
            </a:extLst>
          </p:cNvPr>
          <p:cNvSpPr>
            <a:spLocks noGrp="1"/>
          </p:cNvSpPr>
          <p:nvPr/>
        </p:nvSpPr>
        <p:spPr>
          <a:xfrm>
            <a:off x="11125200" y="7543800"/>
            <a:ext cx="6115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Only the newer odds features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54947A-1FAC-459D-81E3-8293CDA16F5D}"/>
              </a:ext>
            </a:extLst>
          </p:cNvPr>
          <p:cNvSpPr>
            <a:spLocks noGrp="1"/>
          </p:cNvSpPr>
          <p:nvPr/>
        </p:nvSpPr>
        <p:spPr>
          <a:xfrm>
            <a:off x="10892409" y="8172450"/>
            <a:ext cx="6576441" cy="1409700"/>
          </a:xfrm>
          <a:prstGeom prst="roundRect">
            <a:avLst>
              <a:gd name="adj" fmla="val 5405"/>
            </a:avLst>
          </a:prstGeom>
          <a:solidFill>
            <a:srgbClr val="302A24"/>
          </a:solidFill>
          <a:ln w="9525">
            <a:solidFill>
              <a:srgbClr val="5E544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DE822E-95A4-45D8-9042-B93BB4298A7D}"/>
              </a:ext>
            </a:extLst>
          </p:cNvPr>
          <p:cNvSpPr>
            <a:spLocks noGrp="1"/>
          </p:cNvSpPr>
          <p:nvPr/>
        </p:nvSpPr>
        <p:spPr>
          <a:xfrm>
            <a:off x="11125200" y="8382000"/>
            <a:ext cx="6115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- Moneyline pairing + ranking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4B8700-E4B4-4E6F-861C-F798681CE739}"/>
              </a:ext>
            </a:extLst>
          </p:cNvPr>
          <p:cNvSpPr>
            <a:spLocks noGrp="1"/>
          </p:cNvSpPr>
          <p:nvPr/>
        </p:nvSpPr>
        <p:spPr>
          <a:xfrm>
            <a:off x="11125200" y="8648700"/>
            <a:ext cx="6115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- O/U scenario-window logic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2B0F63-8117-4E28-9EB6-592A592A712D}"/>
              </a:ext>
            </a:extLst>
          </p:cNvPr>
          <p:cNvSpPr>
            <a:spLocks noGrp="1"/>
          </p:cNvSpPr>
          <p:nvPr/>
        </p:nvSpPr>
        <p:spPr>
          <a:xfrm>
            <a:off x="11125200" y="8915400"/>
            <a:ext cx="6115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- Spread margin-window logic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0F0E1E-02D2-4D1B-948E-2D7A60F2ABF4}"/>
              </a:ext>
            </a:extLst>
          </p:cNvPr>
          <p:cNvSpPr>
            <a:spLocks noGrp="1"/>
          </p:cNvSpPr>
          <p:nvPr/>
        </p:nvSpPr>
        <p:spPr>
          <a:xfrm>
            <a:off x="11125200" y="9182100"/>
            <a:ext cx="6115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- Updated market-first Discord output</a:t>
            </a:r>
          </a:p>
        </p:txBody>
      </p:sp>
    </p:spTree>
    <p:extLst>
      <p:ext uri="{BB962C8B-B14F-4D97-AF65-F5344CB8AC3E}">
        <p14:creationId xmlns:p14="http://schemas.microsoft.com/office/powerpoint/2010/main" val="1802794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4E65C7D-A866-42CD-AD68-B6E7526EDB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E"/>
          </a:solidFill>
          <a:ln w="0">
            <a:solidFill>
              <a:srgbClr val="FBF6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7A871-DA0C-43FE-B66D-E18122B2AD93}"/>
              </a:ext>
            </a:extLst>
          </p:cNvPr>
          <p:cNvSpPr>
            <a:spLocks noGrp="1"/>
          </p:cNvSpPr>
          <p:nvPr/>
        </p:nvSpPr>
        <p:spPr>
          <a:xfrm>
            <a:off x="819150" y="666750"/>
            <a:ext cx="166497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ODDS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D841CE-423B-4C85-B033-1ED808325192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1108710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F1A17"/>
                </a:solidFill>
              </a:defRPr>
            </a:pPr>
            <a:r>
              <a:rPr sz="4350" b="1">
                <a:solidFill>
                  <a:srgbClr val="1F1A17"/>
                </a:solidFill>
              </a:rPr>
              <a:t>The new odds flow has a clear input -&gt; pairing -&gt; ranking -&gt; output sequence.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39F38B-EA5C-491A-84C9-69C0879BE864}"/>
              </a:ext>
            </a:extLst>
          </p:cNvPr>
          <p:cNvSpPr>
            <a:spLocks noGrp="1"/>
          </p:cNvSpPr>
          <p:nvPr/>
        </p:nvSpPr>
        <p:spPr>
          <a:xfrm>
            <a:off x="819150" y="2305050"/>
            <a:ext cx="3192780" cy="6038850"/>
          </a:xfrm>
          <a:prstGeom prst="roundRect">
            <a:avLst>
              <a:gd name="adj" fmla="val 2387"/>
            </a:avLst>
          </a:prstGeom>
          <a:solidFill>
            <a:srgbClr val="F6E0D8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113D19-EEC0-4B56-B015-D2B4F0D8FAD8}"/>
              </a:ext>
            </a:extLst>
          </p:cNvPr>
          <p:cNvSpPr>
            <a:spLocks noGrp="1"/>
          </p:cNvSpPr>
          <p:nvPr/>
        </p:nvSpPr>
        <p:spPr>
          <a:xfrm>
            <a:off x="1047750" y="2514600"/>
            <a:ext cx="27432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C85C3D"/>
                </a:solidFill>
              </a:defRPr>
            </a:pPr>
            <a:r>
              <a:rPr sz="3300" b="1">
                <a:solidFill>
                  <a:srgbClr val="C85C3D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1DDB38-3084-4942-9BF5-ABB9D6B5F3D3}"/>
              </a:ext>
            </a:extLst>
          </p:cNvPr>
          <p:cNvSpPr>
            <a:spLocks noGrp="1"/>
          </p:cNvSpPr>
          <p:nvPr/>
        </p:nvSpPr>
        <p:spPr>
          <a:xfrm>
            <a:off x="1047750" y="3048000"/>
            <a:ext cx="2743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- User sends `@bot odds real|bonus|both` with screenshots.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98F2BD-65A5-4724-B609-B85123CBB86A}"/>
              </a:ext>
            </a:extLst>
          </p:cNvPr>
          <p:cNvSpPr>
            <a:spLocks noGrp="1"/>
          </p:cNvSpPr>
          <p:nvPr/>
        </p:nvSpPr>
        <p:spPr>
          <a:xfrm>
            <a:off x="4183380" y="2305050"/>
            <a:ext cx="3192780" cy="6038850"/>
          </a:xfrm>
          <a:prstGeom prst="roundRect">
            <a:avLst>
              <a:gd name="adj" fmla="val 2387"/>
            </a:avLst>
          </a:prstGeom>
          <a:solidFill>
            <a:srgbClr val="F5E9D3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1B728D-B09F-4EDD-AEFA-39592D875273}"/>
              </a:ext>
            </a:extLst>
          </p:cNvPr>
          <p:cNvSpPr>
            <a:spLocks noGrp="1"/>
          </p:cNvSpPr>
          <p:nvPr/>
        </p:nvSpPr>
        <p:spPr>
          <a:xfrm>
            <a:off x="4419600" y="2514600"/>
            <a:ext cx="27432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B18428"/>
                </a:solidFill>
              </a:defRPr>
            </a:pPr>
            <a:r>
              <a:rPr sz="3300" b="1">
                <a:solidFill>
                  <a:srgbClr val="B18428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2FBC9E-76AD-4875-9175-7774726E219E}"/>
              </a:ext>
            </a:extLst>
          </p:cNvPr>
          <p:cNvSpPr>
            <a:spLocks noGrp="1"/>
          </p:cNvSpPr>
          <p:nvPr/>
        </p:nvSpPr>
        <p:spPr>
          <a:xfrm>
            <a:off x="4419600" y="3048000"/>
            <a:ext cx="2743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- Gemini extracts `OddsCandidate` rows with market, site, odds, and line fields.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C363B1-AA57-4343-B072-9E37B47B9267}"/>
              </a:ext>
            </a:extLst>
          </p:cNvPr>
          <p:cNvSpPr>
            <a:spLocks noGrp="1"/>
          </p:cNvSpPr>
          <p:nvPr/>
        </p:nvSpPr>
        <p:spPr>
          <a:xfrm>
            <a:off x="7547610" y="2305050"/>
            <a:ext cx="3192780" cy="6038850"/>
          </a:xfrm>
          <a:prstGeom prst="roundRect">
            <a:avLst>
              <a:gd name="adj" fmla="val 2387"/>
            </a:avLst>
          </a:prstGeom>
          <a:solidFill>
            <a:srgbClr val="E7F3EE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EFCF68-4263-48EA-90A1-5E26F49F87BC}"/>
              </a:ext>
            </a:extLst>
          </p:cNvPr>
          <p:cNvSpPr>
            <a:spLocks noGrp="1"/>
          </p:cNvSpPr>
          <p:nvPr/>
        </p:nvSpPr>
        <p:spPr>
          <a:xfrm>
            <a:off x="7772400" y="2514600"/>
            <a:ext cx="27432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D7B6E"/>
                </a:solidFill>
              </a:defRPr>
            </a:pPr>
            <a:r>
              <a:rPr sz="3300" b="1">
                <a:solidFill>
                  <a:srgbClr val="1D7B6E"/>
                </a:solidFill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B11E60-280D-42B3-A894-BACFA69814B2}"/>
              </a:ext>
            </a:extLst>
          </p:cNvPr>
          <p:cNvSpPr>
            <a:spLocks noGrp="1"/>
          </p:cNvSpPr>
          <p:nvPr/>
        </p:nvSpPr>
        <p:spPr>
          <a:xfrm>
            <a:off x="7772400" y="3048000"/>
            <a:ext cx="2743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- Models normalize dates, team codes, sites, totals, and spreads.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E3B4934-5091-4A04-893A-ADF9B3C65DF3}"/>
              </a:ext>
            </a:extLst>
          </p:cNvPr>
          <p:cNvSpPr>
            <a:spLocks noGrp="1"/>
          </p:cNvSpPr>
          <p:nvPr/>
        </p:nvSpPr>
        <p:spPr>
          <a:xfrm>
            <a:off x="10911840" y="2305050"/>
            <a:ext cx="3192780" cy="6038850"/>
          </a:xfrm>
          <a:prstGeom prst="roundRect">
            <a:avLst>
              <a:gd name="adj" fmla="val 2387"/>
            </a:avLst>
          </a:prstGeom>
          <a:solidFill>
            <a:srgbClr val="EDF1F6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49A6B3-F041-4A3A-94BE-CAB068B2CFE0}"/>
              </a:ext>
            </a:extLst>
          </p:cNvPr>
          <p:cNvSpPr>
            <a:spLocks noGrp="1"/>
          </p:cNvSpPr>
          <p:nvPr/>
        </p:nvSpPr>
        <p:spPr>
          <a:xfrm>
            <a:off x="11144250" y="2514600"/>
            <a:ext cx="27432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58739A"/>
                </a:solidFill>
              </a:defRPr>
            </a:pPr>
            <a:r>
              <a:rPr sz="3300" b="1">
                <a:solidFill>
                  <a:srgbClr val="58739A"/>
                </a:solidFill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60E9F3-EE0E-4B15-8942-DC7A127AD277}"/>
              </a:ext>
            </a:extLst>
          </p:cNvPr>
          <p:cNvSpPr>
            <a:spLocks noGrp="1"/>
          </p:cNvSpPr>
          <p:nvPr/>
        </p:nvSpPr>
        <p:spPr>
          <a:xfrm>
            <a:off x="11144250" y="3048000"/>
            <a:ext cx="2743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- Discord shows an invoker-only review embed before confirmation.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6CCFB96-92B4-4D41-916F-013F507CA772}"/>
              </a:ext>
            </a:extLst>
          </p:cNvPr>
          <p:cNvSpPr>
            <a:spLocks noGrp="1"/>
          </p:cNvSpPr>
          <p:nvPr/>
        </p:nvSpPr>
        <p:spPr>
          <a:xfrm>
            <a:off x="14276070" y="2305050"/>
            <a:ext cx="3192780" cy="6038850"/>
          </a:xfrm>
          <a:prstGeom prst="roundRect">
            <a:avLst>
              <a:gd name="adj" fmla="val 2387"/>
            </a:avLst>
          </a:prstGeom>
          <a:solidFill>
            <a:srgbClr val="F3E7DD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A1608C-93DA-4995-9A45-627A9D19901F}"/>
              </a:ext>
            </a:extLst>
          </p:cNvPr>
          <p:cNvSpPr>
            <a:spLocks noGrp="1"/>
          </p:cNvSpPr>
          <p:nvPr/>
        </p:nvSpPr>
        <p:spPr>
          <a:xfrm>
            <a:off x="14497050" y="2514600"/>
            <a:ext cx="27432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C85C3D"/>
                </a:solidFill>
              </a:defRPr>
            </a:pPr>
            <a:r>
              <a:rPr sz="3300" b="1">
                <a:solidFill>
                  <a:srgbClr val="C85C3D"/>
                </a:solidFill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9BB98F-67CC-43BD-B6A1-68B85F861D2A}"/>
              </a:ext>
            </a:extLst>
          </p:cNvPr>
          <p:cNvSpPr>
            <a:spLocks noGrp="1"/>
          </p:cNvSpPr>
          <p:nvPr/>
        </p:nvSpPr>
        <p:spPr>
          <a:xfrm>
            <a:off x="14497050" y="3048000"/>
            <a:ext cx="2743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- Confirm writes raw, clean, and ranked sheets, then returns best market picks.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A14849D-0A46-439F-A81B-F3F1685B9ED9}"/>
              </a:ext>
            </a:extLst>
          </p:cNvPr>
          <p:cNvSpPr>
            <a:spLocks noGrp="1"/>
          </p:cNvSpPr>
          <p:nvPr/>
        </p:nvSpPr>
        <p:spPr>
          <a:xfrm>
            <a:off x="819150" y="8591550"/>
            <a:ext cx="16649700" cy="1028700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3C50DA-6ECE-4436-8B41-4F9EF3DFC795}"/>
              </a:ext>
            </a:extLst>
          </p:cNvPr>
          <p:cNvSpPr>
            <a:spLocks noGrp="1"/>
          </p:cNvSpPr>
          <p:nvPr/>
        </p:nvSpPr>
        <p:spPr>
          <a:xfrm>
            <a:off x="1085850" y="8801100"/>
            <a:ext cx="52197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C85C3D"/>
                </a:solidFill>
              </a:defRPr>
            </a:pPr>
            <a:r>
              <a:rPr sz="3150" b="1">
                <a:solidFill>
                  <a:srgbClr val="C85C3D"/>
                </a:solidFill>
              </a:rPr>
              <a:t>odds_raw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0DC759-91F5-4D6A-8016-66454182F1CF}"/>
              </a:ext>
            </a:extLst>
          </p:cNvPr>
          <p:cNvSpPr>
            <a:spLocks noGrp="1"/>
          </p:cNvSpPr>
          <p:nvPr/>
        </p:nvSpPr>
        <p:spPr>
          <a:xfrm>
            <a:off x="1085850" y="9277350"/>
            <a:ext cx="521970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STAGE 1 EXTRACTED ROWS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CEBDD2-1884-479B-A9DD-42D539609F8A}"/>
              </a:ext>
            </a:extLst>
          </p:cNvPr>
          <p:cNvSpPr>
            <a:spLocks noGrp="1"/>
          </p:cNvSpPr>
          <p:nvPr/>
        </p:nvSpPr>
        <p:spPr>
          <a:xfrm>
            <a:off x="6534150" y="8801100"/>
            <a:ext cx="52197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1D7B6E"/>
                </a:solidFill>
              </a:defRPr>
            </a:pPr>
            <a:r>
              <a:rPr sz="3150" b="1">
                <a:solidFill>
                  <a:srgbClr val="1D7B6E"/>
                </a:solidFill>
              </a:rPr>
              <a:t>odds_clean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5F9445-9B94-485E-823F-9B2013F28E53}"/>
              </a:ext>
            </a:extLst>
          </p:cNvPr>
          <p:cNvSpPr>
            <a:spLocks noGrp="1"/>
          </p:cNvSpPr>
          <p:nvPr/>
        </p:nvSpPr>
        <p:spPr>
          <a:xfrm>
            <a:off x="6534150" y="9277350"/>
            <a:ext cx="521970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STAGE 2 PAIRED ROWS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2062FE-8817-4067-9D1E-4F7DB34FDC85}"/>
              </a:ext>
            </a:extLst>
          </p:cNvPr>
          <p:cNvSpPr>
            <a:spLocks noGrp="1"/>
          </p:cNvSpPr>
          <p:nvPr/>
        </p:nvSpPr>
        <p:spPr>
          <a:xfrm>
            <a:off x="11982450" y="8801100"/>
            <a:ext cx="52197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B18428"/>
                </a:solidFill>
              </a:defRPr>
            </a:pPr>
            <a:r>
              <a:rPr sz="3150" b="1">
                <a:solidFill>
                  <a:srgbClr val="B18428"/>
                </a:solidFill>
              </a:rPr>
              <a:t>odds_ranked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E614E8-20DC-49FB-A5F3-48A444EDDFF1}"/>
              </a:ext>
            </a:extLst>
          </p:cNvPr>
          <p:cNvSpPr>
            <a:spLocks noGrp="1"/>
          </p:cNvSpPr>
          <p:nvPr/>
        </p:nvSpPr>
        <p:spPr>
          <a:xfrm>
            <a:off x="11982450" y="9277350"/>
            <a:ext cx="521970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STAGE 3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07068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335DA11-FEA2-4E4D-9909-9CB8920BFE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9"/>
          </a:solidFill>
          <a:ln w="0">
            <a:solidFill>
              <a:srgbClr val="FFFDF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80FACA-2E3D-4242-B81C-E5A944AD1BBA}"/>
              </a:ext>
            </a:extLst>
          </p:cNvPr>
          <p:cNvSpPr>
            <a:spLocks noGrp="1"/>
          </p:cNvSpPr>
          <p:nvPr/>
        </p:nvSpPr>
        <p:spPr>
          <a:xfrm>
            <a:off x="819150" y="666750"/>
            <a:ext cx="166497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NEW FEATURE: MONEYLINE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76628A-891F-4256-AD1D-7EA4B98B3FA5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950595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F1A17"/>
                </a:solidFill>
              </a:defRPr>
            </a:pPr>
            <a:r>
              <a:rPr sz="4350" b="1">
                <a:solidFill>
                  <a:srgbClr val="1F1A17"/>
                </a:solidFill>
              </a:rPr>
              <a:t>Moneyline now has dedicated pairing, workbook-style calculations, and ranking.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D4EC0A-4DF0-4699-9B22-8C3C3F3C68B1}"/>
              </a:ext>
            </a:extLst>
          </p:cNvPr>
          <p:cNvSpPr>
            <a:spLocks noGrp="1"/>
          </p:cNvSpPr>
          <p:nvPr/>
        </p:nvSpPr>
        <p:spPr>
          <a:xfrm>
            <a:off x="819150" y="2305050"/>
            <a:ext cx="8096250" cy="7315200"/>
          </a:xfrm>
          <a:prstGeom prst="roundRect">
            <a:avLst>
              <a:gd name="adj" fmla="val 1042"/>
            </a:avLst>
          </a:prstGeom>
          <a:solidFill>
            <a:srgbClr val="F6E0D8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61B452-2E20-4B28-8994-8D8DE3F76C6C}"/>
              </a:ext>
            </a:extLst>
          </p:cNvPr>
          <p:cNvSpPr>
            <a:spLocks noGrp="1"/>
          </p:cNvSpPr>
          <p:nvPr/>
        </p:nvSpPr>
        <p:spPr>
          <a:xfrm>
            <a:off x="1047750" y="2514600"/>
            <a:ext cx="7639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Gemini extracts rows as `market="moneyline"`.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61479-06DA-4203-BFAB-0E6B5F994BD5}"/>
              </a:ext>
            </a:extLst>
          </p:cNvPr>
          <p:cNvSpPr>
            <a:spLocks noGrp="1"/>
          </p:cNvSpPr>
          <p:nvPr/>
        </p:nvSpPr>
        <p:spPr>
          <a:xfrm>
            <a:off x="1047750" y="2819400"/>
            <a:ext cx="7639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`build_clean_rows(...)` groups opposite sides of the same matchup on the same date.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3CAD1-0013-46CF-AE23-49C53CC62348}"/>
              </a:ext>
            </a:extLst>
          </p:cNvPr>
          <p:cNvSpPr>
            <a:spLocks noGrp="1"/>
          </p:cNvSpPr>
          <p:nvPr/>
        </p:nvSpPr>
        <p:spPr>
          <a:xfrm>
            <a:off x="1047750" y="3124200"/>
            <a:ext cx="7639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`_pick_best_site_pair(...)` rejects same-site pairs and chooses the best cross-site direction.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4BC5DA-B239-4A4B-AED6-950DB94D22D9}"/>
              </a:ext>
            </a:extLst>
          </p:cNvPr>
          <p:cNvSpPr>
            <a:spLocks noGrp="1"/>
          </p:cNvSpPr>
          <p:nvPr/>
        </p:nvSpPr>
        <p:spPr>
          <a:xfrm>
            <a:off x="1047750" y="3638550"/>
            <a:ext cx="7639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Moneyline uses workbook-style formulas for hedge, profit, ROI, and rake.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55A1E-0AFA-4041-95A1-F29491C914D9}"/>
              </a:ext>
            </a:extLst>
          </p:cNvPr>
          <p:cNvSpPr>
            <a:spLocks noGrp="1"/>
          </p:cNvSpPr>
          <p:nvPr/>
        </p:nvSpPr>
        <p:spPr>
          <a:xfrm>
            <a:off x="1047750" y="3943350"/>
            <a:ext cx="7639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Bonus mode now blocks Cloudbet as the bonus side.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969D93-7D44-4C9C-AB7B-96B2F9B4AEF1}"/>
              </a:ext>
            </a:extLst>
          </p:cNvPr>
          <p:cNvSpPr>
            <a:spLocks noGrp="1"/>
          </p:cNvSpPr>
          <p:nvPr/>
        </p:nvSpPr>
        <p:spPr>
          <a:xfrm>
            <a:off x="9372600" y="2305050"/>
            <a:ext cx="8096250" cy="7315200"/>
          </a:xfrm>
          <a:prstGeom prst="roundRect">
            <a:avLst>
              <a:gd name="adj" fmla="val 1042"/>
            </a:avLst>
          </a:prstGeom>
          <a:solidFill>
            <a:srgbClr val="FFF8F3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2E8ACF-DB8D-4EC5-BEEB-79588E8AE197}"/>
              </a:ext>
            </a:extLst>
          </p:cNvPr>
          <p:cNvSpPr>
            <a:spLocks noGrp="1"/>
          </p:cNvSpPr>
          <p:nvPr/>
        </p:nvSpPr>
        <p:spPr>
          <a:xfrm>
            <a:off x="9601200" y="2514600"/>
            <a:ext cx="76390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CODE-BACKED EXAMPLE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C1FA96-4C48-4DE0-9FFA-0E1B4DB4ED3F}"/>
              </a:ext>
            </a:extLst>
          </p:cNvPr>
          <p:cNvSpPr>
            <a:spLocks noGrp="1"/>
          </p:cNvSpPr>
          <p:nvPr/>
        </p:nvSpPr>
        <p:spPr>
          <a:xfrm>
            <a:off x="9601200" y="2743200"/>
            <a:ext cx="7639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1F1A17"/>
                </a:solidFill>
              </a:defRPr>
            </a:pPr>
            <a:r>
              <a:rPr sz="2850" b="1">
                <a:solidFill>
                  <a:srgbClr val="1F1A17"/>
                </a:solidFill>
              </a:rPr>
              <a:t>TOR @ 3.81 vs CLE @ 1.28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1D903D-61D8-4EB1-8B2D-59E59F82A1BA}"/>
              </a:ext>
            </a:extLst>
          </p:cNvPr>
          <p:cNvSpPr>
            <a:spLocks noGrp="1"/>
          </p:cNvSpPr>
          <p:nvPr/>
        </p:nvSpPr>
        <p:spPr>
          <a:xfrm>
            <a:off x="9601200" y="32004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Bet side: TOR on xbet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5B0E2-80C3-440C-9586-4DE9C901BCFE}"/>
              </a:ext>
            </a:extLst>
          </p:cNvPr>
          <p:cNvSpPr>
            <a:spLocks noGrp="1"/>
          </p:cNvSpPr>
          <p:nvPr/>
        </p:nvSpPr>
        <p:spPr>
          <a:xfrm>
            <a:off x="9601200" y="34671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Hedge side: CLE on cloudbet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EE8B6D-6E88-4774-808B-43F34A4C6E8A}"/>
              </a:ext>
            </a:extLst>
          </p:cNvPr>
          <p:cNvSpPr>
            <a:spLocks noGrp="1"/>
          </p:cNvSpPr>
          <p:nvPr/>
        </p:nvSpPr>
        <p:spPr>
          <a:xfrm>
            <a:off x="9601200" y="37338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Base stake: 100.00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190375-CA9D-49A1-94FE-C0D23B7CFF6C}"/>
              </a:ext>
            </a:extLst>
          </p:cNvPr>
          <p:cNvSpPr>
            <a:spLocks noGrp="1"/>
          </p:cNvSpPr>
          <p:nvPr/>
        </p:nvSpPr>
        <p:spPr>
          <a:xfrm>
            <a:off x="9601200" y="40005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Real hedge: 297.66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EB7EA2-00C8-4838-8F11-F296CBF1EF1B}"/>
              </a:ext>
            </a:extLst>
          </p:cNvPr>
          <p:cNvSpPr>
            <a:spLocks noGrp="1"/>
          </p:cNvSpPr>
          <p:nvPr/>
        </p:nvSpPr>
        <p:spPr>
          <a:xfrm>
            <a:off x="9601200" y="42672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Bonus profit: 61.47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5AAA17-230F-4053-B4E3-8755DF920C16}"/>
              </a:ext>
            </a:extLst>
          </p:cNvPr>
          <p:cNvSpPr>
            <a:spLocks noGrp="1"/>
          </p:cNvSpPr>
          <p:nvPr/>
        </p:nvSpPr>
        <p:spPr>
          <a:xfrm>
            <a:off x="9601200" y="45339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Bonus ROI: 28.0%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11A52E-6814-4F50-A872-A571D308226D}"/>
              </a:ext>
            </a:extLst>
          </p:cNvPr>
          <p:cNvSpPr>
            <a:spLocks noGrp="1"/>
          </p:cNvSpPr>
          <p:nvPr/>
        </p:nvSpPr>
        <p:spPr>
          <a:xfrm>
            <a:off x="9601200" y="48006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Recommendation: BET</a:t>
            </a:r>
          </a:p>
        </p:txBody>
      </p:sp>
    </p:spTree>
    <p:extLst>
      <p:ext uri="{BB962C8B-B14F-4D97-AF65-F5344CB8AC3E}">
        <p14:creationId xmlns:p14="http://schemas.microsoft.com/office/powerpoint/2010/main" val="942565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4CDBE76-0D75-445B-8476-4F5F9D05EF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E"/>
          </a:solidFill>
          <a:ln w="0">
            <a:solidFill>
              <a:srgbClr val="FBF6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C7EE07-6C6E-438C-9F61-91CD7063275A}"/>
              </a:ext>
            </a:extLst>
          </p:cNvPr>
          <p:cNvSpPr>
            <a:spLocks noGrp="1"/>
          </p:cNvSpPr>
          <p:nvPr/>
        </p:nvSpPr>
        <p:spPr>
          <a:xfrm>
            <a:off x="819150" y="666750"/>
            <a:ext cx="166497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NEW FEATURE: OVER / UNDER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9E5F0D-BA79-4A23-9579-198246AABDFC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984885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F1A17"/>
                </a:solidFill>
              </a:defRPr>
            </a:pPr>
            <a:r>
              <a:rPr sz="4350" b="1">
                <a:solidFill>
                  <a:srgbClr val="1F1A17"/>
                </a:solidFill>
              </a:rPr>
              <a:t>Totals bets are evaluated as score windows instead of a simple win/lose pair.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BB5798-F8FC-442E-B178-BCB50BBE4017}"/>
              </a:ext>
            </a:extLst>
          </p:cNvPr>
          <p:cNvSpPr>
            <a:spLocks noGrp="1"/>
          </p:cNvSpPr>
          <p:nvPr/>
        </p:nvSpPr>
        <p:spPr>
          <a:xfrm>
            <a:off x="819150" y="2305050"/>
            <a:ext cx="8096250" cy="7315200"/>
          </a:xfrm>
          <a:prstGeom prst="roundRect">
            <a:avLst>
              <a:gd name="adj" fmla="val 1042"/>
            </a:avLst>
          </a:prstGeom>
          <a:solidFill>
            <a:srgbClr val="E7F3EE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8BD7F1-1E6A-4757-893E-5E8E1EDDF8CE}"/>
              </a:ext>
            </a:extLst>
          </p:cNvPr>
          <p:cNvSpPr>
            <a:spLocks noGrp="1"/>
          </p:cNvSpPr>
          <p:nvPr/>
        </p:nvSpPr>
        <p:spPr>
          <a:xfrm>
            <a:off x="1047750" y="2514600"/>
            <a:ext cx="7639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Gemini extracts totals as `total_over` / `total_under` with `total_line`.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82D3E3-8BC1-49EE-BEF4-E789FEB04639}"/>
              </a:ext>
            </a:extLst>
          </p:cNvPr>
          <p:cNvSpPr>
            <a:spLocks noGrp="1"/>
          </p:cNvSpPr>
          <p:nvPr/>
        </p:nvSpPr>
        <p:spPr>
          <a:xfrm>
            <a:off x="1047750" y="2819400"/>
            <a:ext cx="7639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The bot pairs Over and Under across different sites for the same game.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4FB67D-DD48-4978-9573-1F8C825C4449}"/>
              </a:ext>
            </a:extLst>
          </p:cNvPr>
          <p:cNvSpPr>
            <a:spLocks noGrp="1"/>
          </p:cNvSpPr>
          <p:nvPr/>
        </p:nvSpPr>
        <p:spPr>
          <a:xfrm>
            <a:off x="1047750" y="3124200"/>
            <a:ext cx="7639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`_optimize_ou_hedge_stake(...)` maximizes the worst-case outcome.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02DEAC-D588-4243-8F94-F9489B7205D5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7639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`_ou_profit_outcomes(...)` evaluates buckets below, at, between, and above the lines.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27F7B4-9FB6-43A8-A572-919E29DF989D}"/>
              </a:ext>
            </a:extLst>
          </p:cNvPr>
          <p:cNvSpPr>
            <a:spLocks noGrp="1"/>
          </p:cNvSpPr>
          <p:nvPr/>
        </p:nvSpPr>
        <p:spPr>
          <a:xfrm>
            <a:off x="1047750" y="3733800"/>
            <a:ext cx="7639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If only same-site pairs exist, the review embed explains why there is no pick.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719BAA-8D57-4667-9509-BFB4A892C4CD}"/>
              </a:ext>
            </a:extLst>
          </p:cNvPr>
          <p:cNvSpPr>
            <a:spLocks noGrp="1"/>
          </p:cNvSpPr>
          <p:nvPr/>
        </p:nvSpPr>
        <p:spPr>
          <a:xfrm>
            <a:off x="9372600" y="2305050"/>
            <a:ext cx="8096250" cy="7315200"/>
          </a:xfrm>
          <a:prstGeom prst="roundRect">
            <a:avLst>
              <a:gd name="adj" fmla="val 1042"/>
            </a:avLst>
          </a:prstGeom>
          <a:solidFill>
            <a:srgbClr val="F7FCFA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D68E63-B4C3-4002-8E8D-4C7B5FC9C82B}"/>
              </a:ext>
            </a:extLst>
          </p:cNvPr>
          <p:cNvSpPr>
            <a:spLocks noGrp="1"/>
          </p:cNvSpPr>
          <p:nvPr/>
        </p:nvSpPr>
        <p:spPr>
          <a:xfrm>
            <a:off x="9601200" y="2514600"/>
            <a:ext cx="76390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CODE-BACKED EXAMPLE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98C366-133B-4300-B44A-661E1C70AADC}"/>
              </a:ext>
            </a:extLst>
          </p:cNvPr>
          <p:cNvSpPr>
            <a:spLocks noGrp="1"/>
          </p:cNvSpPr>
          <p:nvPr/>
        </p:nvSpPr>
        <p:spPr>
          <a:xfrm>
            <a:off x="9601200" y="2743200"/>
            <a:ext cx="7639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1F1A17"/>
                </a:solidFill>
              </a:defRPr>
            </a:pPr>
            <a:r>
              <a:rPr sz="2850" b="1">
                <a:solidFill>
                  <a:srgbClr val="1F1A17"/>
                </a:solidFill>
              </a:rPr>
              <a:t>OVER 222.5 vs UNDER 223.5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F59D03-2817-4B2E-92B5-1386C4148E84}"/>
              </a:ext>
            </a:extLst>
          </p:cNvPr>
          <p:cNvSpPr>
            <a:spLocks noGrp="1"/>
          </p:cNvSpPr>
          <p:nvPr/>
        </p:nvSpPr>
        <p:spPr>
          <a:xfrm>
            <a:off x="9601200" y="32004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Chosen bet side: OVER 222.5 @ 1.93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1C9F8-AB9F-4422-BEAF-FE91F53A5EB7}"/>
              </a:ext>
            </a:extLst>
          </p:cNvPr>
          <p:cNvSpPr>
            <a:spLocks noGrp="1"/>
          </p:cNvSpPr>
          <p:nvPr/>
        </p:nvSpPr>
        <p:spPr>
          <a:xfrm>
            <a:off x="9601200" y="34671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Hedge side: UNDER 223.5 @ 1.90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774A12-9A60-4FBB-B612-9F83D84E02EB}"/>
              </a:ext>
            </a:extLst>
          </p:cNvPr>
          <p:cNvSpPr>
            <a:spLocks noGrp="1"/>
          </p:cNvSpPr>
          <p:nvPr/>
        </p:nvSpPr>
        <p:spPr>
          <a:xfrm>
            <a:off x="9601200" y="37338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Optimized hedge: 101.58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2FE3FA-B7F8-497F-B0A0-7AC4F60DD895}"/>
              </a:ext>
            </a:extLst>
          </p:cNvPr>
          <p:cNvSpPr>
            <a:spLocks noGrp="1"/>
          </p:cNvSpPr>
          <p:nvPr/>
        </p:nvSpPr>
        <p:spPr>
          <a:xfrm>
            <a:off x="9601200" y="40005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Worst case: -8.58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6BFF7F-2B0B-4A01-8DB1-0D40935CAD7C}"/>
              </a:ext>
            </a:extLst>
          </p:cNvPr>
          <p:cNvSpPr>
            <a:spLocks noGrp="1"/>
          </p:cNvSpPr>
          <p:nvPr/>
        </p:nvSpPr>
        <p:spPr>
          <a:xfrm>
            <a:off x="9601200" y="42672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Middle window (222.5, 223.5): 184.42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266F9F-89A3-4D11-B5C0-808633E7F0AA}"/>
              </a:ext>
            </a:extLst>
          </p:cNvPr>
          <p:cNvSpPr>
            <a:spLocks noGrp="1"/>
          </p:cNvSpPr>
          <p:nvPr/>
        </p:nvSpPr>
        <p:spPr>
          <a:xfrm>
            <a:off x="9601200" y="45339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The feature’s value is the protected middle-score window.</a:t>
            </a:r>
          </a:p>
        </p:txBody>
      </p:sp>
    </p:spTree>
    <p:extLst>
      <p:ext uri="{BB962C8B-B14F-4D97-AF65-F5344CB8AC3E}">
        <p14:creationId xmlns:p14="http://schemas.microsoft.com/office/powerpoint/2010/main" val="300475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09978C0-17BF-4EB8-8750-7BAF7B3E81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9"/>
          </a:solidFill>
          <a:ln w="0">
            <a:solidFill>
              <a:srgbClr val="FFFDF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E8D4B6-FC11-4111-B6E3-BE6F27C9DA51}"/>
              </a:ext>
            </a:extLst>
          </p:cNvPr>
          <p:cNvSpPr>
            <a:spLocks noGrp="1"/>
          </p:cNvSpPr>
          <p:nvPr/>
        </p:nvSpPr>
        <p:spPr>
          <a:xfrm>
            <a:off x="819150" y="666750"/>
            <a:ext cx="166497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NEW FEATURE: SPREAD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6F39AE-FC8A-4924-A702-B5439C8F2DEB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965835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F1A17"/>
                </a:solidFill>
              </a:defRPr>
            </a:pPr>
            <a:r>
              <a:rPr sz="4350" b="1">
                <a:solidFill>
                  <a:srgbClr val="1F1A17"/>
                </a:solidFill>
              </a:rPr>
              <a:t>Spread bets add margin-based pairing and line-window analysis.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CA5B5E-1E6D-409C-BA7E-F3907490A302}"/>
              </a:ext>
            </a:extLst>
          </p:cNvPr>
          <p:cNvSpPr>
            <a:spLocks noGrp="1"/>
          </p:cNvSpPr>
          <p:nvPr/>
        </p:nvSpPr>
        <p:spPr>
          <a:xfrm>
            <a:off x="819150" y="2305050"/>
            <a:ext cx="8096250" cy="7315200"/>
          </a:xfrm>
          <a:prstGeom prst="roundRect">
            <a:avLst>
              <a:gd name="adj" fmla="val 1042"/>
            </a:avLst>
          </a:prstGeom>
          <a:solidFill>
            <a:srgbClr val="F5E9D3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1BD14-B050-42C0-87B5-15DF129BF02D}"/>
              </a:ext>
            </a:extLst>
          </p:cNvPr>
          <p:cNvSpPr>
            <a:spLocks noGrp="1"/>
          </p:cNvSpPr>
          <p:nvPr/>
        </p:nvSpPr>
        <p:spPr>
          <a:xfrm>
            <a:off x="1047750" y="2514600"/>
            <a:ext cx="7639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Gemini extracts `market="spread"` plus signed `spread_line`.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19F91B-B778-4F0B-869D-4A5CEE2EE637}"/>
              </a:ext>
            </a:extLst>
          </p:cNvPr>
          <p:cNvSpPr>
            <a:spLocks noGrp="1"/>
          </p:cNvSpPr>
          <p:nvPr/>
        </p:nvSpPr>
        <p:spPr>
          <a:xfrm>
            <a:off x="1047750" y="2819400"/>
            <a:ext cx="7639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The bot pairs opposite spread sides across sites for the same matchup.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A3AE9-E4F7-40FE-A503-6047975D2607}"/>
              </a:ext>
            </a:extLst>
          </p:cNvPr>
          <p:cNvSpPr>
            <a:spLocks noGrp="1"/>
          </p:cNvSpPr>
          <p:nvPr/>
        </p:nvSpPr>
        <p:spPr>
          <a:xfrm>
            <a:off x="1047750" y="3124200"/>
            <a:ext cx="7639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`_optimize_spread_hedge_stake(...)` solves for the strongest downside protection.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3526D7-B636-4AA5-95F9-66F1BF848772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7639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`_spread_profit_outcomes(...)` checks outcomes around the spread thresholds.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A49B23-8461-4EAD-B1B6-E756E41F5A62}"/>
              </a:ext>
            </a:extLst>
          </p:cNvPr>
          <p:cNvSpPr>
            <a:spLocks noGrp="1"/>
          </p:cNvSpPr>
          <p:nvPr/>
        </p:nvSpPr>
        <p:spPr>
          <a:xfrm>
            <a:off x="1047750" y="3733800"/>
            <a:ext cx="7639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Spread results can expose middle-margin windows when two lines leave room in between.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667FF7-B30E-4A4E-ABD9-665762E4820D}"/>
              </a:ext>
            </a:extLst>
          </p:cNvPr>
          <p:cNvSpPr>
            <a:spLocks noGrp="1"/>
          </p:cNvSpPr>
          <p:nvPr/>
        </p:nvSpPr>
        <p:spPr>
          <a:xfrm>
            <a:off x="9372600" y="2305050"/>
            <a:ext cx="8096250" cy="7315200"/>
          </a:xfrm>
          <a:prstGeom prst="roundRect">
            <a:avLst>
              <a:gd name="adj" fmla="val 1042"/>
            </a:avLst>
          </a:prstGeom>
          <a:solidFill>
            <a:srgbClr val="FFF9F1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BF36D1-5B81-4CAD-B7C5-747CC9D977B3}"/>
              </a:ext>
            </a:extLst>
          </p:cNvPr>
          <p:cNvSpPr>
            <a:spLocks noGrp="1"/>
          </p:cNvSpPr>
          <p:nvPr/>
        </p:nvSpPr>
        <p:spPr>
          <a:xfrm>
            <a:off x="9601200" y="2514600"/>
            <a:ext cx="76390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CODE-BACKED EXAMPLE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0DC69B-26DE-44D5-B386-A128B33B6397}"/>
              </a:ext>
            </a:extLst>
          </p:cNvPr>
          <p:cNvSpPr>
            <a:spLocks noGrp="1"/>
          </p:cNvSpPr>
          <p:nvPr/>
        </p:nvSpPr>
        <p:spPr>
          <a:xfrm>
            <a:off x="9601200" y="2743200"/>
            <a:ext cx="7639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1F1A17"/>
                </a:solidFill>
              </a:defRPr>
            </a:pPr>
            <a:r>
              <a:rPr sz="2850" b="1">
                <a:solidFill>
                  <a:srgbClr val="1F1A17"/>
                </a:solidFill>
              </a:rPr>
              <a:t>MIN -1.5 vs DAL +2.5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254FBE-0EAE-4ABC-8BF8-2810DD5591BF}"/>
              </a:ext>
            </a:extLst>
          </p:cNvPr>
          <p:cNvSpPr>
            <a:spLocks noGrp="1"/>
          </p:cNvSpPr>
          <p:nvPr/>
        </p:nvSpPr>
        <p:spPr>
          <a:xfrm>
            <a:off x="9601200" y="32004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The helper evaluates margin outcomes around 1.5 and 2.5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D27CB6-6634-4970-822E-B6181A630F45}"/>
              </a:ext>
            </a:extLst>
          </p:cNvPr>
          <p:cNvSpPr>
            <a:spLocks noGrp="1"/>
          </p:cNvSpPr>
          <p:nvPr/>
        </p:nvSpPr>
        <p:spPr>
          <a:xfrm>
            <a:off x="9601200" y="34671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Optimized hedge from the spread helper: 143.66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FB2CF-143B-4A34-942C-8D3551222F45}"/>
              </a:ext>
            </a:extLst>
          </p:cNvPr>
          <p:cNvSpPr>
            <a:spLocks noGrp="1"/>
          </p:cNvSpPr>
          <p:nvPr/>
        </p:nvSpPr>
        <p:spPr>
          <a:xfrm>
            <a:off x="9601200" y="37338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Worst case: -39.66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8565FB-A924-49D2-8F03-537579E620FF}"/>
              </a:ext>
            </a:extLst>
          </p:cNvPr>
          <p:cNvSpPr>
            <a:spLocks noGrp="1"/>
          </p:cNvSpPr>
          <p:nvPr/>
        </p:nvSpPr>
        <p:spPr>
          <a:xfrm>
            <a:off x="9601200" y="40005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At lower line 1.5: 60.34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4273F9-CB4E-447C-9184-4DA3CDDAA182}"/>
              </a:ext>
            </a:extLst>
          </p:cNvPr>
          <p:cNvSpPr>
            <a:spLocks noGrp="1"/>
          </p:cNvSpPr>
          <p:nvPr/>
        </p:nvSpPr>
        <p:spPr>
          <a:xfrm>
            <a:off x="9601200" y="42672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Middle window (1.5, 2.5): 164.34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BCC474-A36C-4CAB-BC44-4DB213CFA9CE}"/>
              </a:ext>
            </a:extLst>
          </p:cNvPr>
          <p:cNvSpPr>
            <a:spLocks noGrp="1"/>
          </p:cNvSpPr>
          <p:nvPr/>
        </p:nvSpPr>
        <p:spPr>
          <a:xfrm>
            <a:off x="9601200" y="4533900"/>
            <a:ext cx="7639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F1A17"/>
                </a:solidFill>
              </a:defRPr>
            </a:pPr>
            <a:r>
              <a:rPr sz="1500">
                <a:solidFill>
                  <a:srgbClr val="1F1A17"/>
                </a:solidFill>
              </a:rPr>
              <a:t>This is the line-sensitive behavior spread logic adds.</a:t>
            </a:r>
          </a:p>
        </p:txBody>
      </p:sp>
    </p:spTree>
    <p:extLst>
      <p:ext uri="{BB962C8B-B14F-4D97-AF65-F5344CB8AC3E}">
        <p14:creationId xmlns:p14="http://schemas.microsoft.com/office/powerpoint/2010/main" val="1627326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B4D0132-720F-4F69-B7E2-96E6D90A52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E"/>
          </a:solidFill>
          <a:ln w="0">
            <a:solidFill>
              <a:srgbClr val="FBF6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0BF9A5-0E1A-44F8-A394-3BCD60A007D0}"/>
              </a:ext>
            </a:extLst>
          </p:cNvPr>
          <p:cNvSpPr>
            <a:spLocks noGrp="1"/>
          </p:cNvSpPr>
          <p:nvPr/>
        </p:nvSpPr>
        <p:spPr>
          <a:xfrm>
            <a:off x="819150" y="666750"/>
            <a:ext cx="166497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RANKING + OUTPUT CHANGES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FDAC54-7189-44E6-A64B-7788C5010692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1116330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F1A17"/>
                </a:solidFill>
              </a:defRPr>
            </a:pPr>
            <a:r>
              <a:rPr sz="4350" b="1">
                <a:solidFill>
                  <a:srgbClr val="1F1A17"/>
                </a:solidFill>
              </a:rPr>
              <a:t>The recent work also improved recommendation quality and the final Discord presentation.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99ACB1-212E-4787-94A2-1745F5222C47}"/>
              </a:ext>
            </a:extLst>
          </p:cNvPr>
          <p:cNvSpPr>
            <a:spLocks noGrp="1"/>
          </p:cNvSpPr>
          <p:nvPr/>
        </p:nvSpPr>
        <p:spPr>
          <a:xfrm>
            <a:off x="819150" y="2324100"/>
            <a:ext cx="8471059" cy="7296150"/>
          </a:xfrm>
          <a:prstGeom prst="roundRect">
            <a:avLst>
              <a:gd name="adj" fmla="val 1044"/>
            </a:avLst>
          </a:prstGeom>
          <a:solidFill>
            <a:srgbClr val="EDF1F6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A067FD-C037-4CB6-B5F0-3A0834992EE0}"/>
              </a:ext>
            </a:extLst>
          </p:cNvPr>
          <p:cNvSpPr>
            <a:spLocks noGrp="1"/>
          </p:cNvSpPr>
          <p:nvPr/>
        </p:nvSpPr>
        <p:spPr>
          <a:xfrm>
            <a:off x="1047750" y="2533650"/>
            <a:ext cx="8020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`select_top_recommendations(...)` now skips games already used by earlier metric buckets.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C885A5-EADB-4F04-B1C6-BBD4D4479859}"/>
              </a:ext>
            </a:extLst>
          </p:cNvPr>
          <p:cNvSpPr>
            <a:spLocks noGrp="1"/>
          </p:cNvSpPr>
          <p:nvPr/>
        </p:nvSpPr>
        <p:spPr>
          <a:xfrm>
            <a:off x="1047750" y="2838450"/>
            <a:ext cx="8020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Site attribution is preserved more aggressively per screenshot and can backfill from image names.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E7EB71-462C-4767-9058-80C496C2D3B4}"/>
              </a:ext>
            </a:extLst>
          </p:cNvPr>
          <p:cNvSpPr>
            <a:spLocks noGrp="1"/>
          </p:cNvSpPr>
          <p:nvPr/>
        </p:nvSpPr>
        <p:spPr>
          <a:xfrm>
            <a:off x="1047750" y="3352800"/>
            <a:ext cx="8020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Rake / edge sign was aligned to the workbook display: `1 - implied probability sum`.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FBD0FA-7DD2-46E4-A66D-B8E2290089CE}"/>
              </a:ext>
            </a:extLst>
          </p:cNvPr>
          <p:cNvSpPr>
            <a:spLocks noGrp="1"/>
          </p:cNvSpPr>
          <p:nvPr/>
        </p:nvSpPr>
        <p:spPr>
          <a:xfrm>
            <a:off x="1047750" y="3657600"/>
            <a:ext cx="8020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Moneyline bonus instructions are suppressed when the bet site is Cloudbet.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9335F8-DE10-4DDE-B564-8D4CE845C1EA}"/>
              </a:ext>
            </a:extLst>
          </p:cNvPr>
          <p:cNvSpPr>
            <a:spLocks noGrp="1"/>
          </p:cNvSpPr>
          <p:nvPr/>
        </p:nvSpPr>
        <p:spPr>
          <a:xfrm>
            <a:off x="9804559" y="2324100"/>
            <a:ext cx="7664291" cy="7296150"/>
          </a:xfrm>
          <a:prstGeom prst="roundRect">
            <a:avLst>
              <a:gd name="adj" fmla="val 1044"/>
            </a:avLst>
          </a:prstGeom>
          <a:solidFill>
            <a:srgbClr val="E7F3EE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BC003A-B5A8-4B7E-8B79-5611A63EC8C2}"/>
              </a:ext>
            </a:extLst>
          </p:cNvPr>
          <p:cNvSpPr>
            <a:spLocks noGrp="1"/>
          </p:cNvSpPr>
          <p:nvPr/>
        </p:nvSpPr>
        <p:spPr>
          <a:xfrm>
            <a:off x="10039350" y="2533650"/>
            <a:ext cx="7200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1D7B6E"/>
                </a:solidFill>
              </a:defRPr>
            </a:pPr>
            <a:r>
              <a:rPr sz="2700" b="1">
                <a:solidFill>
                  <a:srgbClr val="1D7B6E"/>
                </a:solidFill>
              </a:rPr>
              <a:t>Visible product change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A97B96-9B1E-45D5-A955-2455F256A08A}"/>
              </a:ext>
            </a:extLst>
          </p:cNvPr>
          <p:cNvSpPr>
            <a:spLocks noGrp="1"/>
          </p:cNvSpPr>
          <p:nvPr/>
        </p:nvSpPr>
        <p:spPr>
          <a:xfrm>
            <a:off x="10039350" y="2971800"/>
            <a:ext cx="7200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F1A17"/>
                </a:solidFill>
              </a:defRPr>
            </a:pPr>
            <a:r>
              <a:rPr sz="1575">
                <a:solidFill>
                  <a:srgbClr val="1F1A17"/>
                </a:solidFill>
              </a:rPr>
              <a:t>- Old: multi-page odds result 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3D69C3-44EF-42D2-9D7F-6377823F5134}"/>
              </a:ext>
            </a:extLst>
          </p:cNvPr>
          <p:cNvSpPr>
            <a:spLocks noGrp="1"/>
          </p:cNvSpPr>
          <p:nvPr/>
        </p:nvSpPr>
        <p:spPr>
          <a:xfrm>
            <a:off x="10039350" y="3276600"/>
            <a:ext cx="7200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F1A17"/>
                </a:solidFill>
              </a:defRPr>
            </a:pPr>
            <a:r>
              <a:rPr sz="1575">
                <a:solidFill>
                  <a:srgbClr val="1F1A17"/>
                </a:solidFill>
              </a:rPr>
              <a:t>- New: one market-first recommendations embed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199667-E70F-4BBF-8857-D588170DEE94}"/>
              </a:ext>
            </a:extLst>
          </p:cNvPr>
          <p:cNvSpPr>
            <a:spLocks noGrp="1"/>
          </p:cNvSpPr>
          <p:nvPr/>
        </p:nvSpPr>
        <p:spPr>
          <a:xfrm>
            <a:off x="10039350" y="3562350"/>
            <a:ext cx="7200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F1A17"/>
                </a:solidFill>
              </a:defRPr>
            </a:pPr>
            <a:r>
              <a:rPr sz="1575">
                <a:solidFill>
                  <a:srgbClr val="1F1A17"/>
                </a:solidFill>
              </a:rPr>
              <a:t>- Output fields: Best Moneyline, Best O/U, Best Spread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E11089-8183-4CC5-8D63-873284837CA0}"/>
              </a:ext>
            </a:extLst>
          </p:cNvPr>
          <p:cNvSpPr>
            <a:spLocks noGrp="1"/>
          </p:cNvSpPr>
          <p:nvPr/>
        </p:nvSpPr>
        <p:spPr>
          <a:xfrm>
            <a:off x="10039350" y="3867150"/>
            <a:ext cx="7200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1F1A17"/>
                </a:solidFill>
              </a:defRPr>
            </a:pPr>
            <a:r>
              <a:rPr sz="1575">
                <a:solidFill>
                  <a:srgbClr val="1F1A17"/>
                </a:solidFill>
              </a:rPr>
              <a:t>- Result: faster scanning for non-technical reviewers and operators</a:t>
            </a:r>
          </a:p>
        </p:txBody>
      </p:sp>
    </p:spTree>
    <p:extLst>
      <p:ext uri="{BB962C8B-B14F-4D97-AF65-F5344CB8AC3E}">
        <p14:creationId xmlns:p14="http://schemas.microsoft.com/office/powerpoint/2010/main" val="892614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E42F3E0-9475-4161-B079-BD18791F94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DF9"/>
          </a:solidFill>
          <a:ln w="0">
            <a:solidFill>
              <a:srgbClr val="FFFDF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0F3FC-FEA1-400B-884A-B1A91297926E}"/>
              </a:ext>
            </a:extLst>
          </p:cNvPr>
          <p:cNvSpPr>
            <a:spLocks noGrp="1"/>
          </p:cNvSpPr>
          <p:nvPr/>
        </p:nvSpPr>
        <p:spPr>
          <a:xfrm>
            <a:off x="819150" y="666750"/>
            <a:ext cx="166497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C85C3D"/>
                </a:solidFill>
              </a:defRPr>
            </a:pPr>
            <a:r>
              <a:rPr sz="1200" b="1">
                <a:solidFill>
                  <a:srgbClr val="C85C3D"/>
                </a:solidFill>
              </a:rPr>
              <a:t>EXAMPLE END-TO-END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BE1E50-58D3-43BD-8801-83C6D5BE9048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963930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F1A17"/>
                </a:solidFill>
              </a:defRPr>
            </a:pPr>
            <a:r>
              <a:rPr sz="4350" b="1">
                <a:solidFill>
                  <a:srgbClr val="1F1A17"/>
                </a:solidFill>
              </a:rPr>
              <a:t>One odds request can produce reviewable outputs for all three new markets.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40FBFA-A6A8-4EF6-A27F-96075917B4B5}"/>
              </a:ext>
            </a:extLst>
          </p:cNvPr>
          <p:cNvSpPr>
            <a:spLocks noGrp="1"/>
          </p:cNvSpPr>
          <p:nvPr/>
        </p:nvSpPr>
        <p:spPr>
          <a:xfrm>
            <a:off x="819150" y="2324100"/>
            <a:ext cx="5204732" cy="7296150"/>
          </a:xfrm>
          <a:prstGeom prst="roundRect">
            <a:avLst>
              <a:gd name="adj" fmla="val 1464"/>
            </a:avLst>
          </a:prstGeom>
          <a:solidFill>
            <a:srgbClr val="F6E0D8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1901A8-3A40-4F99-9801-EF7E208F44F9}"/>
              </a:ext>
            </a:extLst>
          </p:cNvPr>
          <p:cNvSpPr>
            <a:spLocks noGrp="1"/>
          </p:cNvSpPr>
          <p:nvPr/>
        </p:nvSpPr>
        <p:spPr>
          <a:xfrm>
            <a:off x="1047750" y="2533650"/>
            <a:ext cx="47434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6B5E75-2A41-43B0-BC23-C18CE39F3922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743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Screenshot A: TOR/CLE moneyline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82D7E0-4A98-4977-BBAE-3AB265548A5A}"/>
              </a:ext>
            </a:extLst>
          </p:cNvPr>
          <p:cNvSpPr>
            <a:spLocks noGrp="1"/>
          </p:cNvSpPr>
          <p:nvPr/>
        </p:nvSpPr>
        <p:spPr>
          <a:xfrm>
            <a:off x="1047750" y="3067050"/>
            <a:ext cx="4743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Screenshot B: TOR/CLE total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B74649-0006-4AD3-9EA6-32898500E224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4743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Screenshot C: MIN/DAL spread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1D1511-2C95-4677-B607-048EB7A6084A}"/>
              </a:ext>
            </a:extLst>
          </p:cNvPr>
          <p:cNvSpPr>
            <a:spLocks noGrp="1"/>
          </p:cNvSpPr>
          <p:nvPr/>
        </p:nvSpPr>
        <p:spPr>
          <a:xfrm>
            <a:off x="1047750" y="3676650"/>
            <a:ext cx="4743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User sends `@bot odds both`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445606-F194-460B-A567-A34032318F70}"/>
              </a:ext>
            </a:extLst>
          </p:cNvPr>
          <p:cNvSpPr>
            <a:spLocks noGrp="1"/>
          </p:cNvSpPr>
          <p:nvPr/>
        </p:nvSpPr>
        <p:spPr>
          <a:xfrm>
            <a:off x="6252482" y="2324100"/>
            <a:ext cx="5783036" cy="7296150"/>
          </a:xfrm>
          <a:prstGeom prst="roundRect">
            <a:avLst>
              <a:gd name="adj" fmla="val 1318"/>
            </a:avLst>
          </a:prstGeom>
          <a:solidFill>
            <a:srgbClr val="F5E9D3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28080B-CC7E-4689-8A63-31F31D344153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533400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PROCESSING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7E14F8-E966-4745-966C-3A55D8AC64C6}"/>
              </a:ext>
            </a:extLst>
          </p:cNvPr>
          <p:cNvSpPr>
            <a:spLocks noGrp="1"/>
          </p:cNvSpPr>
          <p:nvPr/>
        </p:nvSpPr>
        <p:spPr>
          <a:xfrm>
            <a:off x="6477000" y="2762250"/>
            <a:ext cx="533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Gemini returns `OddsCandidate` rows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2EE7C-D2CA-4A64-9B4F-9A804DDAFD0F}"/>
              </a:ext>
            </a:extLst>
          </p:cNvPr>
          <p:cNvSpPr>
            <a:spLocks noGrp="1"/>
          </p:cNvSpPr>
          <p:nvPr/>
        </p:nvSpPr>
        <p:spPr>
          <a:xfrm>
            <a:off x="6477000" y="3067050"/>
            <a:ext cx="5334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Dates, teams, sites, odds, totals, and spread lines are normalized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16A82-D27E-4B94-8974-A8943CACACFF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533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Cross-site opposite sides are paired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0BC216-B7CC-424B-BECB-10E9279DD251}"/>
              </a:ext>
            </a:extLst>
          </p:cNvPr>
          <p:cNvSpPr>
            <a:spLocks noGrp="1"/>
          </p:cNvSpPr>
          <p:nvPr/>
        </p:nvSpPr>
        <p:spPr>
          <a:xfrm>
            <a:off x="6477000" y="3886200"/>
            <a:ext cx="533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Moneyline, O/U, and spread are ranked separately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EDE3F5-CAEA-41D4-A294-04026FCD3583}"/>
              </a:ext>
            </a:extLst>
          </p:cNvPr>
          <p:cNvSpPr>
            <a:spLocks noGrp="1"/>
          </p:cNvSpPr>
          <p:nvPr/>
        </p:nvSpPr>
        <p:spPr>
          <a:xfrm>
            <a:off x="12264118" y="2324100"/>
            <a:ext cx="5204732" cy="7296150"/>
          </a:xfrm>
          <a:prstGeom prst="roundRect">
            <a:avLst>
              <a:gd name="adj" fmla="val 1464"/>
            </a:avLst>
          </a:prstGeom>
          <a:solidFill>
            <a:srgbClr val="E7F3EE"/>
          </a:solidFill>
          <a:ln w="9525">
            <a:solidFill>
              <a:srgbClr val="D9CC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0D2CA9-2705-40DC-AF92-74D2E423554E}"/>
              </a:ext>
            </a:extLst>
          </p:cNvPr>
          <p:cNvSpPr>
            <a:spLocks noGrp="1"/>
          </p:cNvSpPr>
          <p:nvPr/>
        </p:nvSpPr>
        <p:spPr>
          <a:xfrm>
            <a:off x="12496800" y="2533650"/>
            <a:ext cx="47434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OUTPUT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515E1B-EF39-4EB7-8AB7-9B4CCE407180}"/>
              </a:ext>
            </a:extLst>
          </p:cNvPr>
          <p:cNvSpPr>
            <a:spLocks noGrp="1"/>
          </p:cNvSpPr>
          <p:nvPr/>
        </p:nvSpPr>
        <p:spPr>
          <a:xfrm>
            <a:off x="12496800" y="2762250"/>
            <a:ext cx="47434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Discord review embed before confirmation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EAA560-2D4C-4D54-A325-68C8F22EDFA3}"/>
              </a:ext>
            </a:extLst>
          </p:cNvPr>
          <p:cNvSpPr>
            <a:spLocks noGrp="1"/>
          </p:cNvSpPr>
          <p:nvPr/>
        </p:nvSpPr>
        <p:spPr>
          <a:xfrm>
            <a:off x="12496800" y="3067050"/>
            <a:ext cx="4743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Best Moneyline / Best O/U / Best Spread after confirmation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9A7AFD-987E-456A-B312-AE4A83C71174}"/>
              </a:ext>
            </a:extLst>
          </p:cNvPr>
          <p:cNvSpPr>
            <a:spLocks noGrp="1"/>
          </p:cNvSpPr>
          <p:nvPr/>
        </p:nvSpPr>
        <p:spPr>
          <a:xfrm>
            <a:off x="12496800" y="3581400"/>
            <a:ext cx="4743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Sheet writes to `odds_raw`, `odds_clean`, `odds_ranked`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B2ABAE-0F37-4C9E-8839-584F7A1C4224}"/>
              </a:ext>
            </a:extLst>
          </p:cNvPr>
          <p:cNvSpPr>
            <a:spLocks noGrp="1"/>
          </p:cNvSpPr>
          <p:nvPr/>
        </p:nvSpPr>
        <p:spPr>
          <a:xfrm>
            <a:off x="12496800" y="4095750"/>
            <a:ext cx="4743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F1A17"/>
                </a:solidFill>
              </a:defRPr>
            </a:pPr>
            <a:r>
              <a:rPr sz="1650">
                <a:solidFill>
                  <a:srgbClr val="1F1A17"/>
                </a:solidFill>
              </a:rPr>
              <a:t>- Counts of raw, clean, and ranked rows returned to the user</a:t>
            </a:r>
          </a:p>
        </p:txBody>
      </p:sp>
    </p:spTree>
    <p:extLst>
      <p:ext uri="{BB962C8B-B14F-4D97-AF65-F5344CB8AC3E}">
        <p14:creationId xmlns:p14="http://schemas.microsoft.com/office/powerpoint/2010/main" val="2069484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0238D9E-1AAA-4B7F-BB17-4F95035677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22420"/>
          </a:solidFill>
          <a:ln w="0">
            <a:solidFill>
              <a:srgbClr val="2224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5FC852-CD41-41A0-A0B8-6050AC968F43}"/>
              </a:ext>
            </a:extLst>
          </p:cNvPr>
          <p:cNvSpPr>
            <a:spLocks noGrp="1"/>
          </p:cNvSpPr>
          <p:nvPr/>
        </p:nvSpPr>
        <p:spPr>
          <a:xfrm>
            <a:off x="819150" y="704850"/>
            <a:ext cx="166497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DAB982"/>
                </a:solidFill>
              </a:defRPr>
            </a:pPr>
            <a:r>
              <a:rPr sz="1200" b="1">
                <a:solidFill>
                  <a:srgbClr val="DAB982"/>
                </a:solidFill>
              </a:rPr>
              <a:t>TECHNICAL HIGHLIGHTS / IMPACT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05F4D5-C1BF-4AD1-B080-81DA2D0036BE}"/>
              </a:ext>
            </a:extLst>
          </p:cNvPr>
          <p:cNvSpPr>
            <a:spLocks noGrp="1"/>
          </p:cNvSpPr>
          <p:nvPr/>
        </p:nvSpPr>
        <p:spPr>
          <a:xfrm>
            <a:off x="819150" y="990600"/>
            <a:ext cx="1160145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The newer odds features are the strongest product step-change in the repository.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6B4A7E-DEA2-4D4A-9998-8E562163B5E7}"/>
              </a:ext>
            </a:extLst>
          </p:cNvPr>
          <p:cNvSpPr>
            <a:spLocks noGrp="1"/>
          </p:cNvSpPr>
          <p:nvPr/>
        </p:nvSpPr>
        <p:spPr>
          <a:xfrm>
            <a:off x="819150" y="2362200"/>
            <a:ext cx="8420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- Strict JSON odds prompt keeps extraction structured.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D71A57-2738-49A0-B26D-CF793676AC20}"/>
              </a:ext>
            </a:extLst>
          </p:cNvPr>
          <p:cNvSpPr>
            <a:spLocks noGrp="1"/>
          </p:cNvSpPr>
          <p:nvPr/>
        </p:nvSpPr>
        <p:spPr>
          <a:xfrm>
            <a:off x="819150" y="2705100"/>
            <a:ext cx="8420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- `OddsCandidate` makes market, site, total, and spread fields explicit.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A424FD-7329-460C-9D76-C3687DE11331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8420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- Cross-site pairing prevents weak same-site comparisons.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0504B3-A59D-4D09-B6BA-888F1E164A61}"/>
              </a:ext>
            </a:extLst>
          </p:cNvPr>
          <p:cNvSpPr>
            <a:spLocks noGrp="1"/>
          </p:cNvSpPr>
          <p:nvPr/>
        </p:nvSpPr>
        <p:spPr>
          <a:xfrm>
            <a:off x="819150" y="3390900"/>
            <a:ext cx="8420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- Per-market optimization gives each bet type its own logic instead of one generic ranking rule.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A7E6B9-8B6A-4BD5-816F-89BD4305881D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8420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- The new Discord summary makes the results presentation-ready.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672A28-BC2C-41DE-8BCB-4B32DF5D0F81}"/>
              </a:ext>
            </a:extLst>
          </p:cNvPr>
          <p:cNvSpPr>
            <a:spLocks noGrp="1"/>
          </p:cNvSpPr>
          <p:nvPr/>
        </p:nvSpPr>
        <p:spPr>
          <a:xfrm>
            <a:off x="9696450" y="2362200"/>
            <a:ext cx="3790950" cy="1028700"/>
          </a:xfrm>
          <a:prstGeom prst="roundRect">
            <a:avLst>
              <a:gd name="adj" fmla="val 7407"/>
            </a:avLst>
          </a:prstGeom>
          <a:solidFill>
            <a:srgbClr val="302A24"/>
          </a:solidFill>
          <a:ln w="9525">
            <a:solidFill>
              <a:srgbClr val="5E544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A6B8E8-16B7-42A2-9C32-AF6E4C312D42}"/>
              </a:ext>
            </a:extLst>
          </p:cNvPr>
          <p:cNvSpPr>
            <a:spLocks noGrp="1"/>
          </p:cNvSpPr>
          <p:nvPr/>
        </p:nvSpPr>
        <p:spPr>
          <a:xfrm>
            <a:off x="9925050" y="2571750"/>
            <a:ext cx="33337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E9A38B"/>
                </a:solidFill>
              </a:defRPr>
            </a:pPr>
            <a:r>
              <a:rPr sz="3150" b="1">
                <a:solidFill>
                  <a:srgbClr val="E9A38B"/>
                </a:solidFill>
              </a:rPr>
              <a:t>3 markets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373F20-F950-457A-93BF-C3B24FC1D4C1}"/>
              </a:ext>
            </a:extLst>
          </p:cNvPr>
          <p:cNvSpPr>
            <a:spLocks noGrp="1"/>
          </p:cNvSpPr>
          <p:nvPr/>
        </p:nvSpPr>
        <p:spPr>
          <a:xfrm>
            <a:off x="9925050" y="3048000"/>
            <a:ext cx="33337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MONEYLINE, O/U, SPREAD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A8EC6E-7ABC-4D40-B8DD-523754528124}"/>
              </a:ext>
            </a:extLst>
          </p:cNvPr>
          <p:cNvSpPr>
            <a:spLocks noGrp="1"/>
          </p:cNvSpPr>
          <p:nvPr/>
        </p:nvSpPr>
        <p:spPr>
          <a:xfrm>
            <a:off x="13677900" y="2362200"/>
            <a:ext cx="3790950" cy="1028700"/>
          </a:xfrm>
          <a:prstGeom prst="roundRect">
            <a:avLst>
              <a:gd name="adj" fmla="val 7407"/>
            </a:avLst>
          </a:prstGeom>
          <a:solidFill>
            <a:srgbClr val="302A24"/>
          </a:solidFill>
          <a:ln w="9525">
            <a:solidFill>
              <a:srgbClr val="5E544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90766D-8620-4369-B037-0FAFC2EAAECB}"/>
              </a:ext>
            </a:extLst>
          </p:cNvPr>
          <p:cNvSpPr>
            <a:spLocks noGrp="1"/>
          </p:cNvSpPr>
          <p:nvPr/>
        </p:nvSpPr>
        <p:spPr>
          <a:xfrm>
            <a:off x="13906500" y="2571750"/>
            <a:ext cx="33337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7CCFC1"/>
                </a:solidFill>
              </a:defRPr>
            </a:pPr>
            <a:r>
              <a:rPr sz="3150" b="1">
                <a:solidFill>
                  <a:srgbClr val="7CCFC1"/>
                </a:solidFill>
              </a:rPr>
              <a:t>1 summary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D19FBC-6522-4407-924F-F374DEC7CBB1}"/>
              </a:ext>
            </a:extLst>
          </p:cNvPr>
          <p:cNvSpPr>
            <a:spLocks noGrp="1"/>
          </p:cNvSpPr>
          <p:nvPr/>
        </p:nvSpPr>
        <p:spPr>
          <a:xfrm>
            <a:off x="13906500" y="3048000"/>
            <a:ext cx="33337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6D655D"/>
                </a:solidFill>
              </a:defRPr>
            </a:pPr>
            <a:r>
              <a:rPr sz="1050" b="1">
                <a:solidFill>
                  <a:srgbClr val="6D655D"/>
                </a:solidFill>
              </a:rPr>
              <a:t>BEST PICK PER MARKET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208C6FF-E155-4956-933B-5596BD7F4502}"/>
              </a:ext>
            </a:extLst>
          </p:cNvPr>
          <p:cNvSpPr>
            <a:spLocks noGrp="1"/>
          </p:cNvSpPr>
          <p:nvPr/>
        </p:nvSpPr>
        <p:spPr>
          <a:xfrm>
            <a:off x="9696450" y="7905750"/>
            <a:ext cx="7772400" cy="1676400"/>
          </a:xfrm>
          <a:prstGeom prst="roundRect">
            <a:avLst>
              <a:gd name="adj" fmla="val 4545"/>
            </a:avLst>
          </a:prstGeom>
          <a:solidFill>
            <a:srgbClr val="302A24"/>
          </a:solidFill>
          <a:ln w="9525">
            <a:solidFill>
              <a:srgbClr val="5E544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EE593A-E0AF-4998-933B-1B5F70A1CE80}"/>
              </a:ext>
            </a:extLst>
          </p:cNvPr>
          <p:cNvSpPr>
            <a:spLocks noGrp="1"/>
          </p:cNvSpPr>
          <p:nvPr/>
        </p:nvSpPr>
        <p:spPr>
          <a:xfrm>
            <a:off x="9944100" y="8134350"/>
            <a:ext cx="72771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D8BE95"/>
                </a:solidFill>
              </a:defRPr>
            </a:pPr>
            <a:r>
              <a:rPr sz="1200" b="1">
                <a:solidFill>
                  <a:srgbClr val="D8BE95"/>
                </a:solidFill>
              </a:rPr>
              <a:t>Bottom line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D98DAC-60FE-4215-B837-51B97DA1B73A}"/>
              </a:ext>
            </a:extLst>
          </p:cNvPr>
          <p:cNvSpPr>
            <a:spLocks noGrp="1"/>
          </p:cNvSpPr>
          <p:nvPr/>
        </p:nvSpPr>
        <p:spPr>
          <a:xfrm>
            <a:off x="9944100" y="8382000"/>
            <a:ext cx="7162800" cy="971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Bakery-Audit now does more than read betting slips. It compares odds, finds structured opportunities, and explains the best pick by market.</a:t>
            </a:r>
          </a:p>
        </p:txBody>
      </p:sp>
    </p:spTree>
    <p:extLst>
      <p:ext uri="{BB962C8B-B14F-4D97-AF65-F5344CB8AC3E}">
        <p14:creationId xmlns:p14="http://schemas.microsoft.com/office/powerpoint/2010/main" val="21168128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1006</Words>
  <Application>Microsoft Office PowerPoint</Application>
  <DocSecurity>0</DocSecurity>
  <PresentationFormat>Custom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nirv7750</cp:lastModifiedBy>
  <cp:revision>1</cp:revision>
  <dcterms:created xsi:type="dcterms:W3CDTF">2026-04-25T04:36:07Z</dcterms:created>
  <dcterms:modified xsi:type="dcterms:W3CDTF">2026-04-25T13:51:55Z</dcterms:modified>
</cp:coreProperties>
</file>